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 this is Centient, v3 of our deck, now built on Stellar.</a:t>
            </a:r>
          </a:p>
          <a:p>
            <a:r>
              <a:t>One line: Centient pays people in USDC on Stellar to teach AI what "better" looks like.</a:t>
            </a:r>
          </a:p>
          <a:p>
            <a:r>
              <a:t>A contributor connects a wallet, sees a prompt with two AI answers, picks the better one, writes a one-line reason, and earns a micro-reward — default 0.05 USDC. AI labs fund campaigns of these comparison tasks.</a:t>
            </a:r>
          </a:p>
          <a:p>
            <a:r>
              <a:t>The tagline captures the model: turn careful human judgment into tangible, instantly-settled value — cent by cent.</a:t>
            </a:r>
          </a:p>
          <a:p>
            <a:r>
              <a:t>This deck covers the problem, the product, our impact on the Stellar ecosystem, how we'll integrate existing Stellar solutions, the market and business model, and our go-to-market from the Philippines out to APAC and globally.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problems, one gap.</a:t>
            </a:r>
          </a:p>
          <a:p>
            <a:r>
              <a:t>1) Preference data is the moat — even as supervised fine-tuning data gets synthesized away, human preference judgments remain a competitive moat labs pay $1–$10 per datapoint for. Our core loop — pick the better response, write a reason — IS this high-value data.</a:t>
            </a:r>
          </a:p>
          <a:p>
            <a:r>
              <a:t>2) The workers producing it are paid worst and last — this is a documented, topical ethics problem (Kenya &lt;$2/hr, $0.01/task ghost work, Mercor's ~24% wage cut in late 2025). Transparent instant pay is both the right thing and a recruiting/PR wedge.</a:t>
            </a:r>
          </a:p>
          <a:p>
            <a:r>
              <a:t>3) Payment rails are the binding constraint — you literally cannot pay someone 5 cents across borders economically on cards or wires.</a:t>
            </a:r>
          </a:p>
          <a:p>
            <a:r>
              <a:t>The gap we fill: fast, transparent, low-fee dollar payments to the global crowd for AI feedback. That gap is exactly what a stablecoin on Stellar solves.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whole product in one screen.</a:t>
            </a:r>
          </a:p>
          <a:p>
            <a:r>
              <a:t>The labeler loop is deliberately simple — connect, compare A/B, write one line, get paid — because our users are first-time crypto users in emerging markets. We support Freighter today and are adding seedless options.</a:t>
            </a:r>
          </a:p>
          <a:p>
            <a:r>
              <a:t>Crucially, we use an accumulate-then-withdraw model: labeling accrues to an off-chain USDC balance and the on-chain payment happens once at withdrawal. That keeps on-chain volume proportional to cash-outs and lets someone label before they've even funded a wallet.</a:t>
            </a:r>
          </a:p>
          <a:p>
            <a:r>
              <a:t>Quality is the product: ~10% hidden gold tasks, inter-annotator agreement, reason-spam/Jaccard checks, left-bias guards, and a layered anti-fraud pipeline. Customers prepay campaigns so payouts can never exceed funded budget. And every payout is a verifiable Stellar transaction — the transparency that our whole ethics story rests 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is the pitch. Three curves cross now.</a:t>
            </a:r>
          </a:p>
          <a:p>
            <a:r>
              <a:t>1) Demand for neutral data: the June 2025 Meta–Scale deal pushed major labs to seek independent suppliers — that's the exact wedge growing Prolific and Mercor. A crypto-native, transparent, non-lab-owned platform leans into it.</a:t>
            </a:r>
          </a:p>
          <a:p>
            <a:r>
              <a:t>2) Stellar already owns the rail our users need: MoneyGram + Circle have moved over $4.2B in USDC and reach ~500,000 physical cash locations. Our labelers can turn USDC into local cash — that's the difference between "money in a wallet" and "feeds a family."</a:t>
            </a:r>
          </a:p>
          <a:p>
            <a:r>
              <a:t>3) The unit economics finally work: at ~$0.00001 a transaction you can pay someone 5 cents; on cards you cannot. And emerging-market stablecoin demand is compounding.</a:t>
            </a:r>
          </a:p>
          <a:p>
            <a:r>
              <a:t>We're not betting these happen — they've happened. We're assembling them.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Centient is a two-sided marketplace, and both sides already exist in the product — this isn't vaporware.</a:t>
            </a:r>
          </a:p>
          <a:p>
            <a:r>
              <a:t>Supply side: the labeler app — sign-in, onboarding, the A/B task loop, live balance, withdrawals, appeals.</a:t>
            </a:r>
          </a:p>
          <a:p>
            <a:r>
              <a:t>Demand side: a full admin/campaign console where customers fund campaigns in USDC, bulk-upload tasks via CSV, watch progress, and export clean preference datasets with a train/test split — the format labs actually consume.</a:t>
            </a:r>
          </a:p>
          <a:p>
            <a:r>
              <a:t>Under the hood it's production-grade now: Next.js 16, Prisma/Postgres, the Stellar SDK with Freighter, an accumulate-then-withdraw balance ledger, a background payout worker and reconciler for reliability at scale, the full quality/anti-fraud stack, and observability. The point: the engineering is done; what we're raising and partnering for is distribution and ecosystem integration.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for the Stellar ecosystem specifically — it's a required theme and a core part of our partnership and grant story.</a:t>
            </a:r>
          </a:p>
          <a:p>
            <a:r>
              <a:t>Centient routes a genuinely new, non-speculative payment flow onto Stellar. Four dimensions:</a:t>
            </a:r>
          </a:p>
          <a:p>
            <a:r>
              <a:t>- USDC velocity — thousands of real micro-payments, not trades.</a:t>
            </a:r>
          </a:p>
          <a:p>
            <a:r>
              <a:t>- New wallet activations — every labeler is a net-new Stellar wallet in an underbanked market; that's the exact financial-inclusion metric SDF optimizes for.</a:t>
            </a:r>
          </a:p>
          <a:p>
            <a:r>
              <a:t>- Anchor off-ramp volume — when labelers cash USDC to local currency, that's volume for MoneyGram and regional anchors.</a:t>
            </a:r>
          </a:p>
          <a:p>
            <a:r>
              <a:t>- Zero-XLM onboarding — we plan to sponsor account reserves and trustlines and fee-bump user transactions so a first-time user needs no XLM at all (next slide).</a:t>
            </a:r>
          </a:p>
          <a:p>
            <a:r>
              <a:t>Net: Centient is a lighthouse use case that puts Stellar at the AI-plus-payments intersection — a quotable inclusion story and a strong Stellar Community Fund narrative. We're not asking Stellar to subsidize speculation; we're driving real dollars to real people.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our Stellar integration roadmap — a required theme. The message to SDF and partners: we consume existing ecosystem solutions rather than reinventing them.</a:t>
            </a:r>
          </a:p>
          <a:p>
            <a:r>
              <a:t>NOW (foundation): the highest-ROI item is zero-XLM onboarding using sponsored reserves (CAP-33) and fee-bump (CAP-15) — we pay the account reserve, USDC trustline, and fees so a new user needs no XLM. We also move auth to the standards: SEP-10 web auth plus a SEP-1 stellar.toml, and swap our custom login-nonce for the just-finalized SEP-53 message-signing spec.</a:t>
            </a:r>
          </a:p>
          <a:p>
            <a:r>
              <a:t>NEXT (cash-out &amp; payouts): integrate SEP-24 so labelers cash USDC to local fiat through existing anchors — MoneyGram globally, Coins.ph in the Philippines, Yellow Card in Africa. And strongly evaluate adopting the Stellar Disbursement Platform — SDF's open-source, UN-scale bulk-payout engine — for our withdrawal leg, which hands us retries, custody controls, and reporting for free. SEP-38 gives firm cash-out quotes.</a:t>
            </a:r>
          </a:p>
          <a:p>
            <a:r>
              <a:t>LATER (differentiate): Soroban for on-chain campaign escrow, staking, and proof-of-contribution; passkey smart wallets for seedless onboarding once that stack is audited and production-ready; and path payments for an optional "receive your preferred asset" feature.</a:t>
            </a:r>
          </a:p>
          <a:p>
            <a:r>
              <a:t>Deliberately NOT doing: running our own anchor, or issuing a speculative token — both would add risk and undercut the "paid in real USDC" trust. Full analysis is in our GitHub issue #334.</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market is large and compounding at ~26–28% a year, and analysts mostly measure tooling — the real services spend is bigger (the private leaders alone exceed the "market" as defined).</a:t>
            </a:r>
          </a:p>
          <a:p>
            <a:r>
              <a:t>The key economic fact: a human preference point costs $1–$10, versus under a cent for AI feedback — and labs keep paying for the human signal because it can't be synthesized. That's our exact product.</a:t>
            </a:r>
          </a:p>
          <a:p>
            <a:r>
              <a:t>On competition: Scale got absorbed by Meta and rivals are winning the neutral work; Surge and Mercor are huge but sell scarce experts at $85–200/hr to a tiny pool; Prolific is the closest analog to our compare-two-answers loop but takes ~43% and isn't crypto-native; Appen shows commodity crowd work collapsing.</a:t>
            </a:r>
          </a:p>
          <a:p>
            <a:r>
              <a:t>Centient's lane is distinct on all four axes: high-volume preference micro-tasks, paid in real USDC (not a speculative token like the DePIN players), to an emerging-market crowd reachable only because Stellar solved cash-out, with transparency and instant pay as the ethics wedge. Nobody occupies that intersection.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model is a two-sided marketplace take-rate — the proven approach in this space, where Mercor takes ~35% and Prolific ~43%. Customers fund campaigns in USDC and we skim a platform fee on each approved answer, so revenue scales with gross labeling volume rather than our headcount.</a:t>
            </a:r>
          </a:p>
          <a:p>
            <a:r>
              <a:t>We climb the value chain with quality tiers — single-review to consensus to expert-verified — priced accordingly, so we're not trapped in commodity work like Appen. And the Enterprise API turns us from a website into infrastructure: labs push jobs and auto-fund in USDC programmatically, which unlocks large recurring contracts and, down the line, agent-initiated task buying via Stellar's x402.</a:t>
            </a:r>
          </a:p>
          <a:p>
            <a:r>
              <a:t>On funding: there's real non-dilutive fuel here. The Stellar Community Fund's Build/Integration track (up to $150K in XLM) explicitly rewards integrating existing ecosystem products — which is exactly our SDP and sponsored-trustline roadmap. The Matching Fund can match a priced round up to $500K. And we deliberately avoid launching a speculative token — being paid in real USDC instantly is our trust advantage over Sapien and the DePIN crowd.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Go-to-market is deliberately staged across three levels — this is a required theme.</a:t>
            </a:r>
          </a:p>
          <a:p>
            <a:r>
              <a:t>PHASE 1 — Philippines as the beachhead. It's the ideal wedge: high English proficiency, a deep gig/BPO culture, strong crypto adoption, and — critically — Coins.ph and MoneyGram give our labelers instant USDC-to-peso cash-out. We seed supply through student orgs, freelancer groups, and crypto communities, and we lock in a few design-partner AI labs to prove quality and unit economics in one market before spending on expansion.</a:t>
            </a:r>
          </a:p>
          <a:p>
            <a:r>
              <a:t>PHASE 2 — APAC expansion. Indonesia, Vietnam, India, Bangladesh: mobile-first, enormous crowds, rising stablecoin demand. Here we localize, add regional anchors, and lean into a real edge — native and low-resource-language preference data is scarce and commands premium prices from labs. Regional ambassador chapters, which can tap SCF Instawards, drive on-the-ground activation.</a:t>
            </a:r>
          </a:p>
          <a:p>
            <a:r>
              <a:t>PHASE 3 — Global scale. Extend the same cash-out playbook to Africa (Yellow Card, ClickPesa) and Latin America (Vibrant, MoneyGram). On the demand side, the Enterprise API plus a neutrality positioning wins frontier labs, and expertise routing (medical, legal, code, multilingual) moves us up-market. By this stage growth is funded by revenue plus larger SCF Build/Growth awards.</a:t>
            </a:r>
          </a:p>
          <a:p>
            <a:r>
              <a:t>The throughline: each phase reuses the same Stellar cash-out infrastructure, so expansion is a localization exercise, not a rebuild.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Zooming into the engine that powers all three phases.</a:t>
            </a:r>
          </a:p>
          <a:p>
            <a:r>
              <a:t>Supply loop: we acquire labelers with small USDC referral bounties and market-by-market community/ambassador seeding, on top of a near-frictionless zero-XLM signup. Reputation that unlocks higher-paying campaigns is the retention hook. The discipline: tie CAC to verified, productive users — not vanity signups.</a:t>
            </a:r>
          </a:p>
          <a:p>
            <a:r>
              <a:t>Demand loop: land design-partner labs and startups first, convert them to the self-serve console with a transparent take-rate, then expand into the Enterprise API for recurring volume. Our sharpest sales wedge is neutrality and ethical sourcing — a real, timely demand driver after the Scale/Meta consolidation.</a:t>
            </a:r>
          </a:p>
          <a:p>
            <a:r>
              <a:t>And it's a flywheel: more labelers make data faster and better, which pulls more funded campaigns, which means bigger USDC payouts and stronger word-of-mouth and anchor cash-out, which brings more labelers. The elegant part for a Stellar audience: every turn of that flywheel also increases wallet activations, USDC velocity, and anchor volume. Our growth and the ecosystem's growth are literally the same motion.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Status and honesty: the hard engineering is done. We shipped the full two-sided product — the labeler app and the admin/campaign console — with the quality and anti-fraud stack, the accumulate-then-withdraw ledger, and a background payout worker plus reconciler for reliable payouts at scale.</a:t>
            </a:r>
          </a:p>
          <a:p>
            <a:r>
              <a:t>We've completed the migration from the original Celo/MiniPay prototype to Stellar: the Stellar SDK, Freighter, StrKey addresses, USDC-on-Stellar.</a:t>
            </a:r>
          </a:p>
          <a:p>
            <a:r>
              <a:t>What's happening now is distribution and ecosystem integration: sponsored-trustline zero-XLM onboarding, SEP-24 cash-out, evaluating the Stellar Disbursement Platform, and standing up the Philippines labeler pilot with design-partner labs.</a:t>
            </a:r>
          </a:p>
          <a:p>
            <a:r>
              <a:t>The proof points we're driving — and that we'll report — are deliberately the same metrics that make the SCF and partnership case: activated wallets, weekly active labelers, submissions per day, gold pass-rate, USDC paid out, and anchor cash-out volume. (Specific pilot numbers go here as they come in.)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ask is three-fold.</a:t>
            </a:r>
          </a:p>
          <a:p>
            <a:r>
              <a:t>Capital: fund the Philippines pilot and the APAC expansion — labeler acquisition, onboarding design-partner labs, and shipping the SEP-24 cash-out, SDP payout, and sponsored-trustline onboarding integrations that make the flywheel spin.</a:t>
            </a:r>
          </a:p>
          <a:p>
            <a:r>
              <a:t>Stellar partnership: we're a strong Stellar Community Fund candidate on the Build/Integration track; beyond capital we want anchor introductions — Coins.ph, MoneyGram, Yellow Card — and SDF technical support on sponsored reserves and the Disbursement Platform.</a:t>
            </a:r>
          </a:p>
          <a:p>
            <a:r>
              <a:t>Design-partner AI labs: early customers for preference and multilingual data who specifically value neutral, transparent, ethically-sourced human feedback — the wedge the market is asking for post-Scale/Meta.</a:t>
            </a:r>
          </a:p>
          <a:p>
            <a:r>
              <a:t>Close on the vision: Centient turns AI's need for human judgment into dependable dollar income for the global crowd, and routes that entire flow onto Stellar. Our growth is Stellar's growth. Train AI, cent by cent. Thank you — let's talk.</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for reference. Everything in this deck is sourced.</a:t>
            </a:r>
          </a:p>
          <a:p>
            <a:r>
              <a:t>The ecosystem-integration and business-feature content comes from our comprehensive research report saved as GitHub issue #334, which carries inline citations and an explicit verification-caveats section.</a:t>
            </a:r>
          </a:p>
          <a:p>
            <a:r>
              <a:t>Architecture and product claims come from the repo README (with system and sequence diagrams), the whitepaper, features.md, and spec.md. The deck's structure follows issue #152, our canonical architecture-and-deck spec.</a:t>
            </a:r>
          </a:p>
          <a:p>
            <a:r>
              <a:t>Stellar primitives referenced: SEP-1/10/24/38/53, CAP-33 sponsored reserves, CAP-15 fee-bump, and the Stellar Disbursement Platform. Cash-out anchors: MoneyGram, Coins.ph, Yellow Card, ClickPesa, Vibrant. Market facts: the Scale/Meta, Surge, Mercor, Prolific, and Appen developments.</a:t>
            </a:r>
          </a:p>
          <a:p>
            <a:r>
              <a:t>One honesty note: point-in-time numbers are indicative and flagged in issue #334; confirm before external use. And note the prior deck versions live in the team Drive — I couldn't pull them into this environment, so v3 reproduces the established brand and pitch structure rather than diffing the exact previous file.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6D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309360"/>
            <a:ext cx="12191695" cy="548640"/>
          </a:xfrm>
          <a:prstGeom prst="rect">
            <a:avLst/>
          </a:prstGeom>
          <a:solidFill>
            <a:srgbClr val="0054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22960" y="1371600"/>
            <a:ext cx="502920" cy="109728"/>
          </a:xfrm>
          <a:prstGeom prst="rect">
            <a:avLst/>
          </a:prstGeom>
          <a:solidFill>
            <a:srgbClr val="35D0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600200"/>
            <a:ext cx="10058400" cy="1280160"/>
          </a:xfrm>
          <a:prstGeom prst="rect">
            <a:avLst/>
          </a:prstGeom>
          <a:noFill/>
        </p:spPr>
        <p:txBody>
          <a:bodyPr wrap="square" anchor="t" lIns="0" rIns="0" tIns="0" bIns="0">
            <a:spAutoFit/>
          </a:bodyPr>
          <a:lstStyle/>
          <a:p>
            <a:pPr algn="l">
              <a:lnSpc>
                <a:spcPct val="105000"/>
              </a:lnSpc>
              <a:spcBef>
                <a:spcPts val="0"/>
              </a:spcBef>
              <a:spcAft>
                <a:spcPts val="0"/>
              </a:spcAft>
            </a:pPr>
            <a:r>
              <a:rPr sz="6600" b="1" i="0">
                <a:solidFill>
                  <a:srgbClr val="FFFFFF"/>
                </a:solidFill>
                <a:latin typeface="Manrope"/>
              </a:rPr>
              <a:t>Centient</a:t>
            </a:r>
          </a:p>
        </p:txBody>
      </p:sp>
      <p:sp>
        <p:nvSpPr>
          <p:cNvPr id="6" name="TextBox 5"/>
          <p:cNvSpPr txBox="1"/>
          <p:nvPr/>
        </p:nvSpPr>
        <p:spPr>
          <a:xfrm>
            <a:off x="841248" y="2788920"/>
            <a:ext cx="10058400" cy="640080"/>
          </a:xfrm>
          <a:prstGeom prst="rect">
            <a:avLst/>
          </a:prstGeom>
          <a:noFill/>
        </p:spPr>
        <p:txBody>
          <a:bodyPr wrap="square" anchor="t" lIns="0" rIns="0" tIns="0" bIns="0">
            <a:spAutoFit/>
          </a:bodyPr>
          <a:lstStyle/>
          <a:p>
            <a:pPr algn="l">
              <a:lnSpc>
                <a:spcPct val="105000"/>
              </a:lnSpc>
              <a:spcBef>
                <a:spcPts val="0"/>
              </a:spcBef>
              <a:spcAft>
                <a:spcPts val="0"/>
              </a:spcAft>
            </a:pPr>
            <a:r>
              <a:rPr sz="2600" b="0" i="1">
                <a:solidFill>
                  <a:srgbClr val="35D07F"/>
                </a:solidFill>
                <a:latin typeface="Manrope"/>
              </a:rPr>
              <a:t>Train AI, cent by cent.</a:t>
            </a:r>
          </a:p>
        </p:txBody>
      </p:sp>
      <p:sp>
        <p:nvSpPr>
          <p:cNvPr id="7" name="TextBox 6"/>
          <p:cNvSpPr txBox="1"/>
          <p:nvPr/>
        </p:nvSpPr>
        <p:spPr>
          <a:xfrm>
            <a:off x="841248" y="3611880"/>
            <a:ext cx="9692640" cy="914400"/>
          </a:xfrm>
          <a:prstGeom prst="rect">
            <a:avLst/>
          </a:prstGeom>
          <a:noFill/>
        </p:spPr>
        <p:txBody>
          <a:bodyPr wrap="square" anchor="t" lIns="0" rIns="0" tIns="0" bIns="0">
            <a:spAutoFit/>
          </a:bodyPr>
          <a:lstStyle/>
          <a:p>
            <a:pPr algn="l">
              <a:lnSpc>
                <a:spcPct val="115000"/>
              </a:lnSpc>
              <a:spcBef>
                <a:spcPts val="0"/>
              </a:spcBef>
              <a:spcAft>
                <a:spcPts val="200"/>
              </a:spcAft>
            </a:pPr>
            <a:r>
              <a:rPr sz="1500" b="0" i="0">
                <a:solidFill>
                  <a:srgbClr val="DFF3E7"/>
                </a:solidFill>
                <a:latin typeface="Inter"/>
              </a:rPr>
              <a:t>Paid AI data-labeling on Stellar — humans rank AI responses and get </a:t>
            </a:r>
          </a:p>
          <a:p>
            <a:pPr algn="l">
              <a:lnSpc>
                <a:spcPct val="115000"/>
              </a:lnSpc>
              <a:spcBef>
                <a:spcPts val="0"/>
              </a:spcBef>
              <a:spcAft>
                <a:spcPts val="200"/>
              </a:spcAft>
            </a:pPr>
            <a:r>
              <a:rPr sz="1500" b="0" i="0">
                <a:solidFill>
                  <a:srgbClr val="DFF3E7"/>
                </a:solidFill>
                <a:latin typeface="Inter"/>
              </a:rPr>
              <a:t>paid instantly in USDC, one cent at a time.</a:t>
            </a:r>
          </a:p>
        </p:txBody>
      </p:sp>
      <p:sp>
        <p:nvSpPr>
          <p:cNvPr id="8" name="Rounded Rectangle 7"/>
          <p:cNvSpPr/>
          <p:nvPr/>
        </p:nvSpPr>
        <p:spPr>
          <a:xfrm>
            <a:off x="841248" y="4892040"/>
            <a:ext cx="2103120" cy="310896"/>
          </a:xfrm>
          <a:prstGeom prst="roundRect">
            <a:avLst>
              <a:gd name="adj" fmla="val 6000"/>
            </a:avLst>
          </a:prstGeom>
          <a:solidFill>
            <a:srgbClr val="FDCE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8" y="4892040"/>
            <a:ext cx="2103120" cy="310896"/>
          </a:xfrm>
          <a:prstGeom prst="rect">
            <a:avLst/>
          </a:prstGeom>
          <a:noFill/>
        </p:spPr>
        <p:txBody>
          <a:bodyPr wrap="square" anchor="ctr" lIns="0" rIns="0" tIns="0" bIns="0">
            <a:spAutoFit/>
          </a:bodyPr>
          <a:lstStyle/>
          <a:p>
            <a:pPr algn="ctr">
              <a:lnSpc>
                <a:spcPct val="105000"/>
              </a:lnSpc>
              <a:spcBef>
                <a:spcPts val="0"/>
              </a:spcBef>
              <a:spcAft>
                <a:spcPts val="0"/>
              </a:spcAft>
            </a:pPr>
            <a:r>
              <a:rPr sz="1050" b="1" i="0">
                <a:solidFill>
                  <a:srgbClr val="785A00"/>
                </a:solidFill>
                <a:latin typeface="Inter"/>
              </a:rPr>
              <a:t>Investor &amp; Partner Deck</a:t>
            </a:r>
          </a:p>
        </p:txBody>
      </p:sp>
      <p:sp>
        <p:nvSpPr>
          <p:cNvPr id="10" name="Rounded Rectangle 9"/>
          <p:cNvSpPr/>
          <p:nvPr/>
        </p:nvSpPr>
        <p:spPr>
          <a:xfrm>
            <a:off x="3063240" y="4892040"/>
            <a:ext cx="1371600" cy="310896"/>
          </a:xfrm>
          <a:prstGeom prst="roundRect">
            <a:avLst>
              <a:gd name="adj" fmla="val 6000"/>
            </a:avLst>
          </a:prstGeom>
          <a:solidFill>
            <a:srgbClr val="35D0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063240" y="4892040"/>
            <a:ext cx="1371600" cy="310896"/>
          </a:xfrm>
          <a:prstGeom prst="rect">
            <a:avLst/>
          </a:prstGeom>
          <a:noFill/>
        </p:spPr>
        <p:txBody>
          <a:bodyPr wrap="square" anchor="ctr" lIns="0" rIns="0" tIns="0" bIns="0">
            <a:spAutoFit/>
          </a:bodyPr>
          <a:lstStyle/>
          <a:p>
            <a:pPr algn="ctr">
              <a:lnSpc>
                <a:spcPct val="105000"/>
              </a:lnSpc>
              <a:spcBef>
                <a:spcPts val="0"/>
              </a:spcBef>
              <a:spcAft>
                <a:spcPts val="0"/>
              </a:spcAft>
            </a:pPr>
            <a:r>
              <a:rPr sz="1050" b="1" i="0">
                <a:solidFill>
                  <a:srgbClr val="00542D"/>
                </a:solidFill>
                <a:latin typeface="Inter"/>
              </a:rPr>
              <a:t>v3 · 2026</a:t>
            </a:r>
          </a:p>
        </p:txBody>
      </p:sp>
      <p:sp>
        <p:nvSpPr>
          <p:cNvPr id="12" name="TextBox 11"/>
          <p:cNvSpPr txBox="1"/>
          <p:nvPr/>
        </p:nvSpPr>
        <p:spPr>
          <a:xfrm>
            <a:off x="841248" y="6382512"/>
            <a:ext cx="10058400" cy="365760"/>
          </a:xfrm>
          <a:prstGeom prst="rect">
            <a:avLst/>
          </a:prstGeom>
          <a:noFill/>
        </p:spPr>
        <p:txBody>
          <a:bodyPr wrap="square" anchor="t" lIns="0" rIns="0" tIns="0" bIns="0">
            <a:spAutoFit/>
          </a:bodyPr>
          <a:lstStyle/>
          <a:p>
            <a:pPr algn="l">
              <a:lnSpc>
                <a:spcPct val="105000"/>
              </a:lnSpc>
              <a:spcBef>
                <a:spcPts val="0"/>
              </a:spcBef>
              <a:spcAft>
                <a:spcPts val="0"/>
              </a:spcAft>
            </a:pPr>
            <a:r>
              <a:rPr sz="1200" b="1" i="0">
                <a:solidFill>
                  <a:srgbClr val="FFFFFF"/>
                </a:solidFill>
                <a:latin typeface="Inter"/>
              </a:rPr>
              <a:t>centient.work</a:t>
            </a:r>
            <a:r>
              <a:rPr sz="1200" b="0" i="0">
                <a:solidFill>
                  <a:srgbClr val="BFE6CF"/>
                </a:solidFill>
                <a:latin typeface="Inter"/>
              </a:rPr>
              <a:t>   ·   built on Stellar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66928"/>
            <a:ext cx="384048" cy="82296"/>
          </a:xfrm>
          <a:prstGeom prst="rect">
            <a:avLst/>
          </a:prstGeom>
          <a:solidFill>
            <a:srgbClr val="006D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457200"/>
            <a:ext cx="8229600" cy="320040"/>
          </a:xfrm>
          <a:prstGeom prst="rect">
            <a:avLst/>
          </a:prstGeom>
          <a:noFill/>
        </p:spPr>
        <p:txBody>
          <a:bodyPr wrap="square" anchor="t" lIns="0" rIns="0" tIns="0" bIns="0">
            <a:spAutoFit/>
          </a:bodyPr>
          <a:lstStyle/>
          <a:p>
            <a:pPr algn="l">
              <a:lnSpc>
                <a:spcPct val="105000"/>
              </a:lnSpc>
              <a:spcBef>
                <a:spcPts val="0"/>
              </a:spcBef>
              <a:spcAft>
                <a:spcPts val="0"/>
              </a:spcAft>
            </a:pPr>
            <a:r>
              <a:rPr sz="1300" b="1" i="0">
                <a:solidFill>
                  <a:srgbClr val="006D3D"/>
                </a:solidFill>
                <a:latin typeface="Inter"/>
              </a:rPr>
              <a:t>THE PROBLEM</a:t>
            </a:r>
          </a:p>
        </p:txBody>
      </p:sp>
      <p:sp>
        <p:nvSpPr>
          <p:cNvPr id="5" name="TextBox 4"/>
          <p:cNvSpPr txBox="1"/>
          <p:nvPr/>
        </p:nvSpPr>
        <p:spPr>
          <a:xfrm>
            <a:off x="640080" y="6455664"/>
            <a:ext cx="3657600" cy="274320"/>
          </a:xfrm>
          <a:prstGeom prst="rect">
            <a:avLst/>
          </a:prstGeom>
          <a:noFill/>
        </p:spPr>
        <p:txBody>
          <a:bodyPr wrap="square" anchor="t" lIns="0" rIns="0" tIns="0" bIns="0">
            <a:spAutoFit/>
          </a:bodyPr>
          <a:lstStyle/>
          <a:p>
            <a:pPr algn="l">
              <a:lnSpc>
                <a:spcPct val="105000"/>
              </a:lnSpc>
              <a:spcBef>
                <a:spcPts val="0"/>
              </a:spcBef>
              <a:spcAft>
                <a:spcPts val="0"/>
              </a:spcAft>
            </a:pPr>
            <a:r>
              <a:rPr sz="900" b="1" i="0">
                <a:solidFill>
                  <a:srgbClr val="006D3D"/>
                </a:solidFill>
                <a:latin typeface="Manrope"/>
              </a:rPr>
              <a:t>Centient</a:t>
            </a:r>
            <a:r>
              <a:rPr sz="900" b="0" i="0">
                <a:solidFill>
                  <a:srgbClr val="444A46"/>
                </a:solidFill>
                <a:latin typeface="Inter"/>
              </a:rPr>
              <a:t>  ·  Train AI, cent by cent.</a:t>
            </a:r>
          </a:p>
        </p:txBody>
      </p:sp>
      <p:sp>
        <p:nvSpPr>
          <p:cNvPr id="6" name="TextBox 5"/>
          <p:cNvSpPr txBox="1"/>
          <p:nvPr/>
        </p:nvSpPr>
        <p:spPr>
          <a:xfrm>
            <a:off x="10424160" y="6455664"/>
            <a:ext cx="1097280" cy="274320"/>
          </a:xfrm>
          <a:prstGeom prst="rect">
            <a:avLst/>
          </a:prstGeom>
          <a:noFill/>
        </p:spPr>
        <p:txBody>
          <a:bodyPr wrap="square" anchor="t" lIns="0" rIns="0" tIns="0" bIns="0">
            <a:spAutoFit/>
          </a:bodyPr>
          <a:lstStyle/>
          <a:p>
            <a:pPr algn="r">
              <a:lnSpc>
                <a:spcPct val="105000"/>
              </a:lnSpc>
              <a:spcBef>
                <a:spcPts val="0"/>
              </a:spcBef>
              <a:spcAft>
                <a:spcPts val="0"/>
              </a:spcAft>
            </a:pPr>
            <a:r>
              <a:rPr sz="900" b="1" i="0">
                <a:solidFill>
                  <a:srgbClr val="444A46"/>
                </a:solidFill>
                <a:latin typeface="Inter"/>
              </a:rPr>
              <a:t>02</a:t>
            </a:r>
          </a:p>
        </p:txBody>
      </p:sp>
      <p:sp>
        <p:nvSpPr>
          <p:cNvPr id="7" name="TextBox 6"/>
          <p:cNvSpPr txBox="1"/>
          <p:nvPr/>
        </p:nvSpPr>
        <p:spPr>
          <a:xfrm>
            <a:off x="640080" y="841248"/>
            <a:ext cx="10881360" cy="914400"/>
          </a:xfrm>
          <a:prstGeom prst="rect">
            <a:avLst/>
          </a:prstGeom>
          <a:noFill/>
        </p:spPr>
        <p:txBody>
          <a:bodyPr wrap="square" anchor="t" lIns="0" rIns="0" tIns="0" bIns="0">
            <a:spAutoFit/>
          </a:bodyPr>
          <a:lstStyle/>
          <a:p>
            <a:pPr algn="l">
              <a:lnSpc>
                <a:spcPct val="100000"/>
              </a:lnSpc>
              <a:spcBef>
                <a:spcPts val="0"/>
              </a:spcBef>
              <a:spcAft>
                <a:spcPts val="0"/>
              </a:spcAft>
            </a:pPr>
            <a:r>
              <a:rPr sz="3000" b="1" i="0">
                <a:solidFill>
                  <a:srgbClr val="1A1C19"/>
                </a:solidFill>
                <a:latin typeface="Manrope"/>
              </a:rPr>
              <a:t>AI runs on human judgment — but the people who provide it are paid worst</a:t>
            </a:r>
          </a:p>
        </p:txBody>
      </p:sp>
      <p:sp>
        <p:nvSpPr>
          <p:cNvPr id="8" name="Rounded Rectangle 7"/>
          <p:cNvSpPr/>
          <p:nvPr/>
        </p:nvSpPr>
        <p:spPr>
          <a:xfrm>
            <a:off x="640080" y="1737360"/>
            <a:ext cx="3602736" cy="2286000"/>
          </a:xfrm>
          <a:prstGeom prst="roundRect">
            <a:avLst>
              <a:gd name="adj" fmla="val 6000"/>
            </a:avLst>
          </a:prstGeom>
          <a:solidFill>
            <a:srgbClr val="FFFFFF"/>
          </a:solidFill>
          <a:ln w="12700">
            <a:solidFill>
              <a:srgbClr val="D7DD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1737360"/>
            <a:ext cx="82296" cy="2286000"/>
          </a:xfrm>
          <a:prstGeom prst="rect">
            <a:avLst/>
          </a:prstGeom>
          <a:solidFill>
            <a:srgbClr val="006D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1938528"/>
            <a:ext cx="3236976" cy="365760"/>
          </a:xfrm>
          <a:prstGeom prst="rect">
            <a:avLst/>
          </a:prstGeom>
          <a:noFill/>
        </p:spPr>
        <p:txBody>
          <a:bodyPr wrap="square" anchor="t" lIns="0" rIns="0" tIns="0" bIns="0">
            <a:spAutoFit/>
          </a:bodyPr>
          <a:lstStyle/>
          <a:p>
            <a:pPr algn="l">
              <a:lnSpc>
                <a:spcPct val="100000"/>
              </a:lnSpc>
              <a:spcBef>
                <a:spcPts val="0"/>
              </a:spcBef>
              <a:spcAft>
                <a:spcPts val="0"/>
              </a:spcAft>
            </a:pPr>
            <a:r>
              <a:rPr sz="1400" b="1" i="0">
                <a:solidFill>
                  <a:srgbClr val="1A1C19"/>
                </a:solidFill>
                <a:latin typeface="Manrope"/>
              </a:rPr>
              <a:t>Preference data is the moat</a:t>
            </a:r>
          </a:p>
        </p:txBody>
      </p:sp>
      <p:sp>
        <p:nvSpPr>
          <p:cNvPr id="11" name="TextBox 10"/>
          <p:cNvSpPr txBox="1"/>
          <p:nvPr/>
        </p:nvSpPr>
        <p:spPr>
          <a:xfrm>
            <a:off x="859536" y="2322576"/>
            <a:ext cx="3218688" cy="1627632"/>
          </a:xfrm>
          <a:prstGeom prst="rect">
            <a:avLst/>
          </a:prstGeom>
          <a:noFill/>
        </p:spPr>
        <p:txBody>
          <a:bodyPr wrap="square" anchor="t" lIns="0" rIns="0" tIns="0" bIns="0">
            <a:spAutoFit/>
          </a:bodyPr>
          <a:lstStyle/>
          <a:p>
            <a:pPr algn="l">
              <a:lnSpc>
                <a:spcPct val="106000"/>
              </a:lnSpc>
              <a:spcBef>
                <a:spcPts val="0"/>
              </a:spcBef>
              <a:spcAft>
                <a:spcPts val="0"/>
              </a:spcAft>
            </a:pPr>
            <a:r>
              <a:rPr sz="1150" b="0" i="0">
                <a:solidFill>
                  <a:srgbClr val="444A46"/>
                </a:solidFill>
                <a:latin typeface="Inter"/>
              </a:rPr>
              <a:t>RLHF / human-preference data is the fuel of modern AI. A single human preference point costs ~$1–$10; labs keep paying because it can't be synthesized away.</a:t>
            </a:r>
          </a:p>
        </p:txBody>
      </p:sp>
      <p:sp>
        <p:nvSpPr>
          <p:cNvPr id="12" name="Rounded Rectangle 11"/>
          <p:cNvSpPr/>
          <p:nvPr/>
        </p:nvSpPr>
        <p:spPr>
          <a:xfrm>
            <a:off x="4379976" y="1737360"/>
            <a:ext cx="3602736" cy="2286000"/>
          </a:xfrm>
          <a:prstGeom prst="roundRect">
            <a:avLst>
              <a:gd name="adj" fmla="val 6000"/>
            </a:avLst>
          </a:prstGeom>
          <a:solidFill>
            <a:srgbClr val="FFFFFF"/>
          </a:solidFill>
          <a:ln w="12700">
            <a:solidFill>
              <a:srgbClr val="D7DD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79976" y="1737360"/>
            <a:ext cx="82296" cy="2286000"/>
          </a:xfrm>
          <a:prstGeom prst="rect">
            <a:avLst/>
          </a:prstGeom>
          <a:solidFill>
            <a:srgbClr val="785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99432" y="1938528"/>
            <a:ext cx="3236976" cy="365760"/>
          </a:xfrm>
          <a:prstGeom prst="rect">
            <a:avLst/>
          </a:prstGeom>
          <a:noFill/>
        </p:spPr>
        <p:txBody>
          <a:bodyPr wrap="square" anchor="t" lIns="0" rIns="0" tIns="0" bIns="0">
            <a:spAutoFit/>
          </a:bodyPr>
          <a:lstStyle/>
          <a:p>
            <a:pPr algn="l">
              <a:lnSpc>
                <a:spcPct val="100000"/>
              </a:lnSpc>
              <a:spcBef>
                <a:spcPts val="0"/>
              </a:spcBef>
              <a:spcAft>
                <a:spcPts val="0"/>
              </a:spcAft>
            </a:pPr>
            <a:r>
              <a:rPr sz="1400" b="1" i="0">
                <a:solidFill>
                  <a:srgbClr val="1A1C19"/>
                </a:solidFill>
                <a:latin typeface="Manrope"/>
              </a:rPr>
              <a:t>Workers are underpaid &amp; opaque</a:t>
            </a:r>
          </a:p>
        </p:txBody>
      </p:sp>
      <p:sp>
        <p:nvSpPr>
          <p:cNvPr id="15" name="TextBox 14"/>
          <p:cNvSpPr txBox="1"/>
          <p:nvPr/>
        </p:nvSpPr>
        <p:spPr>
          <a:xfrm>
            <a:off x="4599432" y="2322576"/>
            <a:ext cx="3218688" cy="1627632"/>
          </a:xfrm>
          <a:prstGeom prst="rect">
            <a:avLst/>
          </a:prstGeom>
          <a:noFill/>
        </p:spPr>
        <p:txBody>
          <a:bodyPr wrap="square" anchor="t" lIns="0" rIns="0" tIns="0" bIns="0">
            <a:spAutoFit/>
          </a:bodyPr>
          <a:lstStyle/>
          <a:p>
            <a:pPr algn="l">
              <a:lnSpc>
                <a:spcPct val="106000"/>
              </a:lnSpc>
              <a:spcBef>
                <a:spcPts val="0"/>
              </a:spcBef>
              <a:spcAft>
                <a:spcPts val="0"/>
              </a:spcAft>
            </a:pPr>
            <a:r>
              <a:rPr sz="1150" b="0" i="0">
                <a:solidFill>
                  <a:srgbClr val="444A46"/>
                </a:solidFill>
                <a:latin typeface="Inter"/>
              </a:rPr>
              <a:t>Data-labeling labor is a live controversy — Kenyan workers under $2/hr, ghost-workers at $0.01/task, and even top firms cutting labeler pay ~24%.</a:t>
            </a:r>
          </a:p>
        </p:txBody>
      </p:sp>
      <p:sp>
        <p:nvSpPr>
          <p:cNvPr id="16" name="Rounded Rectangle 15"/>
          <p:cNvSpPr/>
          <p:nvPr/>
        </p:nvSpPr>
        <p:spPr>
          <a:xfrm>
            <a:off x="8119872" y="1737360"/>
            <a:ext cx="3602736" cy="2286000"/>
          </a:xfrm>
          <a:prstGeom prst="roundRect">
            <a:avLst>
              <a:gd name="adj" fmla="val 6000"/>
            </a:avLst>
          </a:prstGeom>
          <a:solidFill>
            <a:srgbClr val="FFFFFF"/>
          </a:solidFill>
          <a:ln w="12700">
            <a:solidFill>
              <a:srgbClr val="D7DD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119872" y="1737360"/>
            <a:ext cx="82296" cy="2286000"/>
          </a:xfrm>
          <a:prstGeom prst="rect">
            <a:avLst/>
          </a:prstGeom>
          <a:solidFill>
            <a:srgbClr val="0054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39328" y="1938528"/>
            <a:ext cx="3236976" cy="365760"/>
          </a:xfrm>
          <a:prstGeom prst="rect">
            <a:avLst/>
          </a:prstGeom>
          <a:noFill/>
        </p:spPr>
        <p:txBody>
          <a:bodyPr wrap="square" anchor="t" lIns="0" rIns="0" tIns="0" bIns="0">
            <a:spAutoFit/>
          </a:bodyPr>
          <a:lstStyle/>
          <a:p>
            <a:pPr algn="l">
              <a:lnSpc>
                <a:spcPct val="100000"/>
              </a:lnSpc>
              <a:spcBef>
                <a:spcPts val="0"/>
              </a:spcBef>
              <a:spcAft>
                <a:spcPts val="0"/>
              </a:spcAft>
            </a:pPr>
            <a:r>
              <a:rPr sz="1400" b="1" i="0">
                <a:solidFill>
                  <a:srgbClr val="1A1C19"/>
                </a:solidFill>
                <a:latin typeface="Manrope"/>
              </a:rPr>
              <a:t>Payment rails exclude them</a:t>
            </a:r>
          </a:p>
        </p:txBody>
      </p:sp>
      <p:sp>
        <p:nvSpPr>
          <p:cNvPr id="19" name="TextBox 18"/>
          <p:cNvSpPr txBox="1"/>
          <p:nvPr/>
        </p:nvSpPr>
        <p:spPr>
          <a:xfrm>
            <a:off x="8339328" y="2322576"/>
            <a:ext cx="3218688" cy="1627632"/>
          </a:xfrm>
          <a:prstGeom prst="rect">
            <a:avLst/>
          </a:prstGeom>
          <a:noFill/>
        </p:spPr>
        <p:txBody>
          <a:bodyPr wrap="square" anchor="t" lIns="0" rIns="0" tIns="0" bIns="0">
            <a:spAutoFit/>
          </a:bodyPr>
          <a:lstStyle/>
          <a:p>
            <a:pPr algn="l">
              <a:lnSpc>
                <a:spcPct val="106000"/>
              </a:lnSpc>
              <a:spcBef>
                <a:spcPts val="0"/>
              </a:spcBef>
              <a:spcAft>
                <a:spcPts val="0"/>
              </a:spcAft>
            </a:pPr>
            <a:r>
              <a:rPr sz="1150" b="0" i="0">
                <a:solidFill>
                  <a:srgbClr val="444A46"/>
                </a:solidFill>
                <a:latin typeface="Inter"/>
              </a:rPr>
              <a:t>Cross-border payroll and cards make sub-dollar payouts uneconomical, slow, and fee-heavy — locking out exactly the emerging-market talent doing the work.</a:t>
            </a:r>
          </a:p>
        </p:txBody>
      </p:sp>
      <p:sp>
        <p:nvSpPr>
          <p:cNvPr id="20" name="Rounded Rectangle 19"/>
          <p:cNvSpPr/>
          <p:nvPr/>
        </p:nvSpPr>
        <p:spPr>
          <a:xfrm>
            <a:off x="640080" y="4343400"/>
            <a:ext cx="10908792" cy="1463040"/>
          </a:xfrm>
          <a:prstGeom prst="roundRect">
            <a:avLst>
              <a:gd name="adj" fmla="val 6000"/>
            </a:avLst>
          </a:prstGeom>
          <a:solidFill>
            <a:srgbClr val="E7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4553712"/>
            <a:ext cx="10424160" cy="1097280"/>
          </a:xfrm>
          <a:prstGeom prst="rect">
            <a:avLst/>
          </a:prstGeom>
          <a:noFill/>
        </p:spPr>
        <p:txBody>
          <a:bodyPr wrap="square" anchor="t" lIns="0" rIns="0" tIns="0" bIns="0">
            <a:spAutoFit/>
          </a:bodyPr>
          <a:lstStyle/>
          <a:p>
            <a:pPr algn="l">
              <a:lnSpc>
                <a:spcPct val="112000"/>
              </a:lnSpc>
              <a:spcBef>
                <a:spcPts val="0"/>
              </a:spcBef>
              <a:spcAft>
                <a:spcPts val="400"/>
              </a:spcAft>
            </a:pPr>
            <a:r>
              <a:rPr sz="1500" b="1" i="0">
                <a:solidFill>
                  <a:srgbClr val="006D3D"/>
                </a:solidFill>
                <a:latin typeface="Manrope"/>
              </a:rPr>
              <a:t>The gap: </a:t>
            </a:r>
            <a:r>
              <a:rPr sz="1500" b="0" i="0">
                <a:solidFill>
                  <a:srgbClr val="1A1C19"/>
                </a:solidFill>
                <a:latin typeface="Inter"/>
              </a:rPr>
              <a:t>there is no fast, transparent, low-fee way to pay the global crowd for high-value AI feedback. </a:t>
            </a:r>
          </a:p>
          <a:p>
            <a:pPr algn="l">
              <a:lnSpc>
                <a:spcPct val="112000"/>
              </a:lnSpc>
              <a:spcBef>
                <a:spcPts val="0"/>
              </a:spcBef>
              <a:spcAft>
                <a:spcPts val="400"/>
              </a:spcAft>
            </a:pPr>
            <a:r>
              <a:rPr sz="1350" b="0" i="0">
                <a:solidFill>
                  <a:srgbClr val="444A46"/>
                </a:solidFill>
                <a:latin typeface="Inter"/>
              </a:rPr>
              <a:t>Neither the elite expert clouds ($85–200/hr, tiny pools) nor volatile token/DePIN projects serve the high-volume, cent-level preference task paid in real dollars.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66928"/>
            <a:ext cx="384048" cy="82296"/>
          </a:xfrm>
          <a:prstGeom prst="rect">
            <a:avLst/>
          </a:prstGeom>
          <a:solidFill>
            <a:srgbClr val="006D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457200"/>
            <a:ext cx="8229600" cy="320040"/>
          </a:xfrm>
          <a:prstGeom prst="rect">
            <a:avLst/>
          </a:prstGeom>
          <a:noFill/>
        </p:spPr>
        <p:txBody>
          <a:bodyPr wrap="square" anchor="t" lIns="0" rIns="0" tIns="0" bIns="0">
            <a:spAutoFit/>
          </a:bodyPr>
          <a:lstStyle/>
          <a:p>
            <a:pPr algn="l">
              <a:lnSpc>
                <a:spcPct val="105000"/>
              </a:lnSpc>
              <a:spcBef>
                <a:spcPts val="0"/>
              </a:spcBef>
              <a:spcAft>
                <a:spcPts val="0"/>
              </a:spcAft>
            </a:pPr>
            <a:r>
              <a:rPr sz="1300" b="1" i="0">
                <a:solidFill>
                  <a:srgbClr val="006D3D"/>
                </a:solidFill>
                <a:latin typeface="Inter"/>
              </a:rPr>
              <a:t>THE SOLUTION</a:t>
            </a:r>
          </a:p>
        </p:txBody>
      </p:sp>
      <p:sp>
        <p:nvSpPr>
          <p:cNvPr id="5" name="TextBox 4"/>
          <p:cNvSpPr txBox="1"/>
          <p:nvPr/>
        </p:nvSpPr>
        <p:spPr>
          <a:xfrm>
            <a:off x="640080" y="6455664"/>
            <a:ext cx="3657600" cy="274320"/>
          </a:xfrm>
          <a:prstGeom prst="rect">
            <a:avLst/>
          </a:prstGeom>
          <a:noFill/>
        </p:spPr>
        <p:txBody>
          <a:bodyPr wrap="square" anchor="t" lIns="0" rIns="0" tIns="0" bIns="0">
            <a:spAutoFit/>
          </a:bodyPr>
          <a:lstStyle/>
          <a:p>
            <a:pPr algn="l">
              <a:lnSpc>
                <a:spcPct val="105000"/>
              </a:lnSpc>
              <a:spcBef>
                <a:spcPts val="0"/>
              </a:spcBef>
              <a:spcAft>
                <a:spcPts val="0"/>
              </a:spcAft>
            </a:pPr>
            <a:r>
              <a:rPr sz="900" b="1" i="0">
                <a:solidFill>
                  <a:srgbClr val="006D3D"/>
                </a:solidFill>
                <a:latin typeface="Manrope"/>
              </a:rPr>
              <a:t>Centient</a:t>
            </a:r>
            <a:r>
              <a:rPr sz="900" b="0" i="0">
                <a:solidFill>
                  <a:srgbClr val="444A46"/>
                </a:solidFill>
                <a:latin typeface="Inter"/>
              </a:rPr>
              <a:t>  ·  Train AI, cent by cent.</a:t>
            </a:r>
          </a:p>
        </p:txBody>
      </p:sp>
      <p:sp>
        <p:nvSpPr>
          <p:cNvPr id="6" name="TextBox 5"/>
          <p:cNvSpPr txBox="1"/>
          <p:nvPr/>
        </p:nvSpPr>
        <p:spPr>
          <a:xfrm>
            <a:off x="10424160" y="6455664"/>
            <a:ext cx="1097280" cy="274320"/>
          </a:xfrm>
          <a:prstGeom prst="rect">
            <a:avLst/>
          </a:prstGeom>
          <a:noFill/>
        </p:spPr>
        <p:txBody>
          <a:bodyPr wrap="square" anchor="t" lIns="0" rIns="0" tIns="0" bIns="0">
            <a:spAutoFit/>
          </a:bodyPr>
          <a:lstStyle/>
          <a:p>
            <a:pPr algn="r">
              <a:lnSpc>
                <a:spcPct val="105000"/>
              </a:lnSpc>
              <a:spcBef>
                <a:spcPts val="0"/>
              </a:spcBef>
              <a:spcAft>
                <a:spcPts val="0"/>
              </a:spcAft>
            </a:pPr>
            <a:r>
              <a:rPr sz="900" b="1" i="0">
                <a:solidFill>
                  <a:srgbClr val="444A46"/>
                </a:solidFill>
                <a:latin typeface="Inter"/>
              </a:rPr>
              <a:t>03</a:t>
            </a:r>
          </a:p>
        </p:txBody>
      </p:sp>
      <p:sp>
        <p:nvSpPr>
          <p:cNvPr id="7" name="TextBox 6"/>
          <p:cNvSpPr txBox="1"/>
          <p:nvPr/>
        </p:nvSpPr>
        <p:spPr>
          <a:xfrm>
            <a:off x="640080" y="841248"/>
            <a:ext cx="10881360" cy="914400"/>
          </a:xfrm>
          <a:prstGeom prst="rect">
            <a:avLst/>
          </a:prstGeom>
          <a:noFill/>
        </p:spPr>
        <p:txBody>
          <a:bodyPr wrap="square" anchor="t" lIns="0" rIns="0" tIns="0" bIns="0">
            <a:spAutoFit/>
          </a:bodyPr>
          <a:lstStyle/>
          <a:p>
            <a:pPr algn="l">
              <a:lnSpc>
                <a:spcPct val="100000"/>
              </a:lnSpc>
              <a:spcBef>
                <a:spcPts val="0"/>
              </a:spcBef>
              <a:spcAft>
                <a:spcPts val="0"/>
              </a:spcAft>
            </a:pPr>
            <a:r>
              <a:rPr sz="3000" b="1" i="0">
                <a:solidFill>
                  <a:srgbClr val="1A1C19"/>
                </a:solidFill>
                <a:latin typeface="Manrope"/>
              </a:rPr>
              <a:t>Micro-tasks in, instant USDC out — on Stellar</a:t>
            </a:r>
          </a:p>
        </p:txBody>
      </p:sp>
      <p:sp>
        <p:nvSpPr>
          <p:cNvPr id="8" name="TextBox 7"/>
          <p:cNvSpPr txBox="1"/>
          <p:nvPr/>
        </p:nvSpPr>
        <p:spPr>
          <a:xfrm>
            <a:off x="640080" y="1572768"/>
            <a:ext cx="6400800" cy="822960"/>
          </a:xfrm>
          <a:prstGeom prst="rect">
            <a:avLst/>
          </a:prstGeom>
          <a:noFill/>
        </p:spPr>
        <p:txBody>
          <a:bodyPr wrap="square" anchor="t" lIns="0" rIns="0" tIns="0" bIns="0">
            <a:spAutoFit/>
          </a:bodyPr>
          <a:lstStyle/>
          <a:p>
            <a:pPr algn="l">
              <a:lnSpc>
                <a:spcPct val="115000"/>
              </a:lnSpc>
              <a:spcBef>
                <a:spcPts val="0"/>
              </a:spcBef>
              <a:spcAft>
                <a:spcPts val="300"/>
              </a:spcAft>
            </a:pPr>
            <a:r>
              <a:rPr sz="1500" b="0" i="0">
                <a:solidFill>
                  <a:srgbClr val="1A1C19"/>
                </a:solidFill>
                <a:latin typeface="Inter"/>
              </a:rPr>
              <a:t>Connect a Stellar wallet, compare two AI responses, pick the better one, write a one-line reason, get paid. </a:t>
            </a:r>
          </a:p>
          <a:p>
            <a:pPr algn="l">
              <a:lnSpc>
                <a:spcPct val="115000"/>
              </a:lnSpc>
              <a:spcBef>
                <a:spcPts val="0"/>
              </a:spcBef>
              <a:spcAft>
                <a:spcPts val="300"/>
              </a:spcAft>
            </a:pPr>
            <a:r>
              <a:rPr sz="1350" b="0" i="0">
                <a:solidFill>
                  <a:srgbClr val="444A46"/>
                </a:solidFill>
                <a:latin typeface="Inter"/>
              </a:rPr>
              <a:t>Earnings accrue to a balance and cash out as one on-chain payment — cheap, ~5-second settlement, fully verifiable.</a:t>
            </a:r>
          </a:p>
        </p:txBody>
      </p:sp>
      <p:sp>
        <p:nvSpPr>
          <p:cNvPr id="9" name="Rounded Rectangle 8"/>
          <p:cNvSpPr/>
          <p:nvPr/>
        </p:nvSpPr>
        <p:spPr>
          <a:xfrm>
            <a:off x="640080" y="2514600"/>
            <a:ext cx="2688336" cy="1737360"/>
          </a:xfrm>
          <a:prstGeom prst="roundRect">
            <a:avLst>
              <a:gd name="adj" fmla="val 6000"/>
            </a:avLst>
          </a:prstGeom>
          <a:solidFill>
            <a:srgbClr val="FFFFFF"/>
          </a:solidFill>
          <a:ln w="12700">
            <a:solidFill>
              <a:srgbClr val="D7DD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59536" y="2724912"/>
            <a:ext cx="457200" cy="457200"/>
          </a:xfrm>
          <a:prstGeom prst="ellipse">
            <a:avLst/>
          </a:prstGeom>
          <a:solidFill>
            <a:srgbClr val="006D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9536" y="2724912"/>
            <a:ext cx="457200" cy="457200"/>
          </a:xfrm>
          <a:prstGeom prst="rect">
            <a:avLst/>
          </a:prstGeom>
          <a:noFill/>
        </p:spPr>
        <p:txBody>
          <a:bodyPr wrap="square" anchor="ctr" lIns="0" rIns="0" tIns="0" bIns="0">
            <a:spAutoFit/>
          </a:bodyPr>
          <a:lstStyle/>
          <a:p>
            <a:pPr algn="ctr">
              <a:lnSpc>
                <a:spcPct val="105000"/>
              </a:lnSpc>
              <a:spcBef>
                <a:spcPts val="0"/>
              </a:spcBef>
              <a:spcAft>
                <a:spcPts val="0"/>
              </a:spcAft>
            </a:pPr>
            <a:r>
              <a:rPr sz="1800" b="1" i="0">
                <a:solidFill>
                  <a:srgbClr val="FFFFFF"/>
                </a:solidFill>
                <a:latin typeface="Manrope"/>
              </a:rPr>
              <a:t>1</a:t>
            </a:r>
          </a:p>
        </p:txBody>
      </p:sp>
      <p:sp>
        <p:nvSpPr>
          <p:cNvPr id="12" name="TextBox 11"/>
          <p:cNvSpPr txBox="1"/>
          <p:nvPr/>
        </p:nvSpPr>
        <p:spPr>
          <a:xfrm>
            <a:off x="859536" y="3310128"/>
            <a:ext cx="2322576" cy="365760"/>
          </a:xfrm>
          <a:prstGeom prst="rect">
            <a:avLst/>
          </a:prstGeom>
          <a:noFill/>
        </p:spPr>
        <p:txBody>
          <a:bodyPr wrap="square" anchor="t" lIns="0" rIns="0" tIns="0" bIns="0">
            <a:spAutoFit/>
          </a:bodyPr>
          <a:lstStyle/>
          <a:p>
            <a:pPr algn="l">
              <a:lnSpc>
                <a:spcPct val="105000"/>
              </a:lnSpc>
              <a:spcBef>
                <a:spcPts val="0"/>
              </a:spcBef>
              <a:spcAft>
                <a:spcPts val="0"/>
              </a:spcAft>
            </a:pPr>
            <a:r>
              <a:rPr sz="1500" b="1" i="0">
                <a:solidFill>
                  <a:srgbClr val="1A1C19"/>
                </a:solidFill>
                <a:latin typeface="Manrope"/>
              </a:rPr>
              <a:t>Connect</a:t>
            </a:r>
          </a:p>
        </p:txBody>
      </p:sp>
      <p:sp>
        <p:nvSpPr>
          <p:cNvPr id="13" name="TextBox 12"/>
          <p:cNvSpPr txBox="1"/>
          <p:nvPr/>
        </p:nvSpPr>
        <p:spPr>
          <a:xfrm>
            <a:off x="859536" y="3675887"/>
            <a:ext cx="2286000" cy="640080"/>
          </a:xfrm>
          <a:prstGeom prst="rect">
            <a:avLst/>
          </a:prstGeom>
          <a:noFill/>
        </p:spPr>
        <p:txBody>
          <a:bodyPr wrap="square" anchor="t" lIns="0" rIns="0" tIns="0" bIns="0">
            <a:spAutoFit/>
          </a:bodyPr>
          <a:lstStyle/>
          <a:p>
            <a:pPr algn="l">
              <a:lnSpc>
                <a:spcPct val="105000"/>
              </a:lnSpc>
              <a:spcBef>
                <a:spcPts val="0"/>
              </a:spcBef>
              <a:spcAft>
                <a:spcPts val="0"/>
              </a:spcAft>
            </a:pPr>
            <a:r>
              <a:rPr sz="1100" b="0" i="0">
                <a:solidFill>
                  <a:srgbClr val="444A46"/>
                </a:solidFill>
                <a:latin typeface="Inter"/>
              </a:rPr>
              <a:t>Freighter wallet or email — zero crypto knowledge required</a:t>
            </a:r>
          </a:p>
        </p:txBody>
      </p:sp>
      <p:sp>
        <p:nvSpPr>
          <p:cNvPr id="14" name="TextBox 13"/>
          <p:cNvSpPr txBox="1"/>
          <p:nvPr/>
        </p:nvSpPr>
        <p:spPr>
          <a:xfrm>
            <a:off x="3310128" y="3200400"/>
            <a:ext cx="274320" cy="457200"/>
          </a:xfrm>
          <a:prstGeom prst="rect">
            <a:avLst/>
          </a:prstGeom>
          <a:noFill/>
        </p:spPr>
        <p:txBody>
          <a:bodyPr wrap="square" anchor="t" lIns="0" rIns="0" tIns="0" bIns="0">
            <a:spAutoFit/>
          </a:bodyPr>
          <a:lstStyle/>
          <a:p>
            <a:pPr algn="ctr">
              <a:lnSpc>
                <a:spcPct val="105000"/>
              </a:lnSpc>
              <a:spcBef>
                <a:spcPts val="0"/>
              </a:spcBef>
              <a:spcAft>
                <a:spcPts val="0"/>
              </a:spcAft>
            </a:pPr>
            <a:r>
              <a:rPr sz="2200" b="1" i="0">
                <a:solidFill>
                  <a:srgbClr val="35D07F"/>
                </a:solidFill>
                <a:latin typeface="Manrope"/>
              </a:rPr>
              <a:t>›</a:t>
            </a:r>
          </a:p>
        </p:txBody>
      </p:sp>
      <p:sp>
        <p:nvSpPr>
          <p:cNvPr id="15" name="Rounded Rectangle 14"/>
          <p:cNvSpPr/>
          <p:nvPr/>
        </p:nvSpPr>
        <p:spPr>
          <a:xfrm>
            <a:off x="3383280" y="2514600"/>
            <a:ext cx="2688336" cy="1737360"/>
          </a:xfrm>
          <a:prstGeom prst="roundRect">
            <a:avLst>
              <a:gd name="adj" fmla="val 6000"/>
            </a:avLst>
          </a:prstGeom>
          <a:solidFill>
            <a:srgbClr val="FFFFFF"/>
          </a:solidFill>
          <a:ln w="12700">
            <a:solidFill>
              <a:srgbClr val="D7DD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2736" y="2724912"/>
            <a:ext cx="457200" cy="457200"/>
          </a:xfrm>
          <a:prstGeom prst="ellipse">
            <a:avLst/>
          </a:prstGeom>
          <a:solidFill>
            <a:srgbClr val="006D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2736" y="2724912"/>
            <a:ext cx="457200" cy="457200"/>
          </a:xfrm>
          <a:prstGeom prst="rect">
            <a:avLst/>
          </a:prstGeom>
          <a:noFill/>
        </p:spPr>
        <p:txBody>
          <a:bodyPr wrap="square" anchor="ctr" lIns="0" rIns="0" tIns="0" bIns="0">
            <a:spAutoFit/>
          </a:bodyPr>
          <a:lstStyle/>
          <a:p>
            <a:pPr algn="ctr">
              <a:lnSpc>
                <a:spcPct val="105000"/>
              </a:lnSpc>
              <a:spcBef>
                <a:spcPts val="0"/>
              </a:spcBef>
              <a:spcAft>
                <a:spcPts val="0"/>
              </a:spcAft>
            </a:pPr>
            <a:r>
              <a:rPr sz="1800" b="1" i="0">
                <a:solidFill>
                  <a:srgbClr val="FFFFFF"/>
                </a:solidFill>
                <a:latin typeface="Manrope"/>
              </a:rPr>
              <a:t>2</a:t>
            </a:r>
          </a:p>
        </p:txBody>
      </p:sp>
      <p:sp>
        <p:nvSpPr>
          <p:cNvPr id="18" name="TextBox 17"/>
          <p:cNvSpPr txBox="1"/>
          <p:nvPr/>
        </p:nvSpPr>
        <p:spPr>
          <a:xfrm>
            <a:off x="3602736" y="3310128"/>
            <a:ext cx="2322576" cy="365760"/>
          </a:xfrm>
          <a:prstGeom prst="rect">
            <a:avLst/>
          </a:prstGeom>
          <a:noFill/>
        </p:spPr>
        <p:txBody>
          <a:bodyPr wrap="square" anchor="t" lIns="0" rIns="0" tIns="0" bIns="0">
            <a:spAutoFit/>
          </a:bodyPr>
          <a:lstStyle/>
          <a:p>
            <a:pPr algn="l">
              <a:lnSpc>
                <a:spcPct val="105000"/>
              </a:lnSpc>
              <a:spcBef>
                <a:spcPts val="0"/>
              </a:spcBef>
              <a:spcAft>
                <a:spcPts val="0"/>
              </a:spcAft>
            </a:pPr>
            <a:r>
              <a:rPr sz="1500" b="1" i="0">
                <a:solidFill>
                  <a:srgbClr val="1A1C19"/>
                </a:solidFill>
                <a:latin typeface="Manrope"/>
              </a:rPr>
              <a:t>Compare</a:t>
            </a:r>
          </a:p>
        </p:txBody>
      </p:sp>
      <p:sp>
        <p:nvSpPr>
          <p:cNvPr id="19" name="TextBox 18"/>
          <p:cNvSpPr txBox="1"/>
          <p:nvPr/>
        </p:nvSpPr>
        <p:spPr>
          <a:xfrm>
            <a:off x="3602736" y="3675887"/>
            <a:ext cx="2286000" cy="640080"/>
          </a:xfrm>
          <a:prstGeom prst="rect">
            <a:avLst/>
          </a:prstGeom>
          <a:noFill/>
        </p:spPr>
        <p:txBody>
          <a:bodyPr wrap="square" anchor="t" lIns="0" rIns="0" tIns="0" bIns="0">
            <a:spAutoFit/>
          </a:bodyPr>
          <a:lstStyle/>
          <a:p>
            <a:pPr algn="l">
              <a:lnSpc>
                <a:spcPct val="105000"/>
              </a:lnSpc>
              <a:spcBef>
                <a:spcPts val="0"/>
              </a:spcBef>
              <a:spcAft>
                <a:spcPts val="0"/>
              </a:spcAft>
            </a:pPr>
            <a:r>
              <a:rPr sz="1100" b="0" i="0">
                <a:solidFill>
                  <a:srgbClr val="444A46"/>
                </a:solidFill>
                <a:latin typeface="Inter"/>
              </a:rPr>
              <a:t>Two AI answers, A vs B — pick the better one</a:t>
            </a:r>
          </a:p>
        </p:txBody>
      </p:sp>
      <p:sp>
        <p:nvSpPr>
          <p:cNvPr id="20" name="TextBox 19"/>
          <p:cNvSpPr txBox="1"/>
          <p:nvPr/>
        </p:nvSpPr>
        <p:spPr>
          <a:xfrm>
            <a:off x="6053328" y="3200400"/>
            <a:ext cx="274320" cy="457200"/>
          </a:xfrm>
          <a:prstGeom prst="rect">
            <a:avLst/>
          </a:prstGeom>
          <a:noFill/>
        </p:spPr>
        <p:txBody>
          <a:bodyPr wrap="square" anchor="t" lIns="0" rIns="0" tIns="0" bIns="0">
            <a:spAutoFit/>
          </a:bodyPr>
          <a:lstStyle/>
          <a:p>
            <a:pPr algn="ctr">
              <a:lnSpc>
                <a:spcPct val="105000"/>
              </a:lnSpc>
              <a:spcBef>
                <a:spcPts val="0"/>
              </a:spcBef>
              <a:spcAft>
                <a:spcPts val="0"/>
              </a:spcAft>
            </a:pPr>
            <a:r>
              <a:rPr sz="2200" b="1" i="0">
                <a:solidFill>
                  <a:srgbClr val="35D07F"/>
                </a:solidFill>
                <a:latin typeface="Manrope"/>
              </a:rPr>
              <a:t>›</a:t>
            </a:r>
          </a:p>
        </p:txBody>
      </p:sp>
      <p:sp>
        <p:nvSpPr>
          <p:cNvPr id="21" name="Rounded Rectangle 20"/>
          <p:cNvSpPr/>
          <p:nvPr/>
        </p:nvSpPr>
        <p:spPr>
          <a:xfrm>
            <a:off x="6126480" y="2514600"/>
            <a:ext cx="2688336" cy="1737360"/>
          </a:xfrm>
          <a:prstGeom prst="roundRect">
            <a:avLst>
              <a:gd name="adj" fmla="val 6000"/>
            </a:avLst>
          </a:prstGeom>
          <a:solidFill>
            <a:srgbClr val="FFFFFF"/>
          </a:solidFill>
          <a:ln w="12700">
            <a:solidFill>
              <a:srgbClr val="D7DD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345936" y="2724912"/>
            <a:ext cx="457200" cy="457200"/>
          </a:xfrm>
          <a:prstGeom prst="ellipse">
            <a:avLst/>
          </a:prstGeom>
          <a:solidFill>
            <a:srgbClr val="006D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45936" y="2724912"/>
            <a:ext cx="457200" cy="457200"/>
          </a:xfrm>
          <a:prstGeom prst="rect">
            <a:avLst/>
          </a:prstGeom>
          <a:noFill/>
        </p:spPr>
        <p:txBody>
          <a:bodyPr wrap="square" anchor="ctr" lIns="0" rIns="0" tIns="0" bIns="0">
            <a:spAutoFit/>
          </a:bodyPr>
          <a:lstStyle/>
          <a:p>
            <a:pPr algn="ctr">
              <a:lnSpc>
                <a:spcPct val="105000"/>
              </a:lnSpc>
              <a:spcBef>
                <a:spcPts val="0"/>
              </a:spcBef>
              <a:spcAft>
                <a:spcPts val="0"/>
              </a:spcAft>
            </a:pPr>
            <a:r>
              <a:rPr sz="1800" b="1" i="0">
                <a:solidFill>
                  <a:srgbClr val="FFFFFF"/>
                </a:solidFill>
                <a:latin typeface="Manrope"/>
              </a:rPr>
              <a:t>3</a:t>
            </a:r>
          </a:p>
        </p:txBody>
      </p:sp>
      <p:sp>
        <p:nvSpPr>
          <p:cNvPr id="24" name="TextBox 23"/>
          <p:cNvSpPr txBox="1"/>
          <p:nvPr/>
        </p:nvSpPr>
        <p:spPr>
          <a:xfrm>
            <a:off x="6345936" y="3310128"/>
            <a:ext cx="2322576" cy="365760"/>
          </a:xfrm>
          <a:prstGeom prst="rect">
            <a:avLst/>
          </a:prstGeom>
          <a:noFill/>
        </p:spPr>
        <p:txBody>
          <a:bodyPr wrap="square" anchor="t" lIns="0" rIns="0" tIns="0" bIns="0">
            <a:spAutoFit/>
          </a:bodyPr>
          <a:lstStyle/>
          <a:p>
            <a:pPr algn="l">
              <a:lnSpc>
                <a:spcPct val="105000"/>
              </a:lnSpc>
              <a:spcBef>
                <a:spcPts val="0"/>
              </a:spcBef>
              <a:spcAft>
                <a:spcPts val="0"/>
              </a:spcAft>
            </a:pPr>
            <a:r>
              <a:rPr sz="1500" b="1" i="0">
                <a:solidFill>
                  <a:srgbClr val="1A1C19"/>
                </a:solidFill>
                <a:latin typeface="Manrope"/>
              </a:rPr>
              <a:t>Reason</a:t>
            </a:r>
          </a:p>
        </p:txBody>
      </p:sp>
      <p:sp>
        <p:nvSpPr>
          <p:cNvPr id="25" name="TextBox 24"/>
          <p:cNvSpPr txBox="1"/>
          <p:nvPr/>
        </p:nvSpPr>
        <p:spPr>
          <a:xfrm>
            <a:off x="6345936" y="3675887"/>
            <a:ext cx="2286000" cy="640080"/>
          </a:xfrm>
          <a:prstGeom prst="rect">
            <a:avLst/>
          </a:prstGeom>
          <a:noFill/>
        </p:spPr>
        <p:txBody>
          <a:bodyPr wrap="square" anchor="t" lIns="0" rIns="0" tIns="0" bIns="0">
            <a:spAutoFit/>
          </a:bodyPr>
          <a:lstStyle/>
          <a:p>
            <a:pPr algn="l">
              <a:lnSpc>
                <a:spcPct val="105000"/>
              </a:lnSpc>
              <a:spcBef>
                <a:spcPts val="0"/>
              </a:spcBef>
              <a:spcAft>
                <a:spcPts val="0"/>
              </a:spcAft>
            </a:pPr>
            <a:r>
              <a:rPr sz="1100" b="0" i="0">
                <a:solidFill>
                  <a:srgbClr val="444A46"/>
                </a:solidFill>
                <a:latin typeface="Inter"/>
              </a:rPr>
              <a:t>One line on why — the high-value signal labs want</a:t>
            </a:r>
          </a:p>
        </p:txBody>
      </p:sp>
      <p:sp>
        <p:nvSpPr>
          <p:cNvPr id="26" name="TextBox 25"/>
          <p:cNvSpPr txBox="1"/>
          <p:nvPr/>
        </p:nvSpPr>
        <p:spPr>
          <a:xfrm>
            <a:off x="8796528" y="3200400"/>
            <a:ext cx="274320" cy="457200"/>
          </a:xfrm>
          <a:prstGeom prst="rect">
            <a:avLst/>
          </a:prstGeom>
          <a:noFill/>
        </p:spPr>
        <p:txBody>
          <a:bodyPr wrap="square" anchor="t" lIns="0" rIns="0" tIns="0" bIns="0">
            <a:spAutoFit/>
          </a:bodyPr>
          <a:lstStyle/>
          <a:p>
            <a:pPr algn="ctr">
              <a:lnSpc>
                <a:spcPct val="105000"/>
              </a:lnSpc>
              <a:spcBef>
                <a:spcPts val="0"/>
              </a:spcBef>
              <a:spcAft>
                <a:spcPts val="0"/>
              </a:spcAft>
            </a:pPr>
            <a:r>
              <a:rPr sz="2200" b="1" i="0">
                <a:solidFill>
                  <a:srgbClr val="35D07F"/>
                </a:solidFill>
                <a:latin typeface="Manrope"/>
              </a:rPr>
              <a:t>›</a:t>
            </a:r>
          </a:p>
        </p:txBody>
      </p:sp>
      <p:sp>
        <p:nvSpPr>
          <p:cNvPr id="27" name="Rounded Rectangle 26"/>
          <p:cNvSpPr/>
          <p:nvPr/>
        </p:nvSpPr>
        <p:spPr>
          <a:xfrm>
            <a:off x="8869680" y="2514600"/>
            <a:ext cx="2688336" cy="1737360"/>
          </a:xfrm>
          <a:prstGeom prst="roundRect">
            <a:avLst>
              <a:gd name="adj" fmla="val 6000"/>
            </a:avLst>
          </a:prstGeom>
          <a:solidFill>
            <a:srgbClr val="FFFFFF"/>
          </a:solidFill>
          <a:ln w="12700">
            <a:solidFill>
              <a:srgbClr val="D7DD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089136" y="2724912"/>
            <a:ext cx="457200" cy="457200"/>
          </a:xfrm>
          <a:prstGeom prst="ellipse">
            <a:avLst/>
          </a:prstGeom>
          <a:solidFill>
            <a:srgbClr val="006D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089136" y="2724912"/>
            <a:ext cx="457200" cy="457200"/>
          </a:xfrm>
          <a:prstGeom prst="rect">
            <a:avLst/>
          </a:prstGeom>
          <a:noFill/>
        </p:spPr>
        <p:txBody>
          <a:bodyPr wrap="square" anchor="ctr" lIns="0" rIns="0" tIns="0" bIns="0">
            <a:spAutoFit/>
          </a:bodyPr>
          <a:lstStyle/>
          <a:p>
            <a:pPr algn="ctr">
              <a:lnSpc>
                <a:spcPct val="105000"/>
              </a:lnSpc>
              <a:spcBef>
                <a:spcPts val="0"/>
              </a:spcBef>
              <a:spcAft>
                <a:spcPts val="0"/>
              </a:spcAft>
            </a:pPr>
            <a:r>
              <a:rPr sz="1800" b="1" i="0">
                <a:solidFill>
                  <a:srgbClr val="FFFFFF"/>
                </a:solidFill>
                <a:latin typeface="Manrope"/>
              </a:rPr>
              <a:t>4</a:t>
            </a:r>
          </a:p>
        </p:txBody>
      </p:sp>
      <p:sp>
        <p:nvSpPr>
          <p:cNvPr id="30" name="TextBox 29"/>
          <p:cNvSpPr txBox="1"/>
          <p:nvPr/>
        </p:nvSpPr>
        <p:spPr>
          <a:xfrm>
            <a:off x="9089136" y="3310128"/>
            <a:ext cx="2322576" cy="365760"/>
          </a:xfrm>
          <a:prstGeom prst="rect">
            <a:avLst/>
          </a:prstGeom>
          <a:noFill/>
        </p:spPr>
        <p:txBody>
          <a:bodyPr wrap="square" anchor="t" lIns="0" rIns="0" tIns="0" bIns="0">
            <a:spAutoFit/>
          </a:bodyPr>
          <a:lstStyle/>
          <a:p>
            <a:pPr algn="l">
              <a:lnSpc>
                <a:spcPct val="105000"/>
              </a:lnSpc>
              <a:spcBef>
                <a:spcPts val="0"/>
              </a:spcBef>
              <a:spcAft>
                <a:spcPts val="0"/>
              </a:spcAft>
            </a:pPr>
            <a:r>
              <a:rPr sz="1500" b="1" i="0">
                <a:solidFill>
                  <a:srgbClr val="1A1C19"/>
                </a:solidFill>
                <a:latin typeface="Manrope"/>
              </a:rPr>
              <a:t>Get paid</a:t>
            </a:r>
          </a:p>
        </p:txBody>
      </p:sp>
      <p:sp>
        <p:nvSpPr>
          <p:cNvPr id="31" name="TextBox 30"/>
          <p:cNvSpPr txBox="1"/>
          <p:nvPr/>
        </p:nvSpPr>
        <p:spPr>
          <a:xfrm>
            <a:off x="9089136" y="3675887"/>
            <a:ext cx="2286000" cy="640080"/>
          </a:xfrm>
          <a:prstGeom prst="rect">
            <a:avLst/>
          </a:prstGeom>
          <a:noFill/>
        </p:spPr>
        <p:txBody>
          <a:bodyPr wrap="square" anchor="t" lIns="0" rIns="0" tIns="0" bIns="0">
            <a:spAutoFit/>
          </a:bodyPr>
          <a:lstStyle/>
          <a:p>
            <a:pPr algn="l">
              <a:lnSpc>
                <a:spcPct val="105000"/>
              </a:lnSpc>
              <a:spcBef>
                <a:spcPts val="0"/>
              </a:spcBef>
              <a:spcAft>
                <a:spcPts val="0"/>
              </a:spcAft>
            </a:pPr>
            <a:r>
              <a:rPr sz="1100" b="0" i="0">
                <a:solidFill>
                  <a:srgbClr val="444A46"/>
                </a:solidFill>
                <a:latin typeface="Inter"/>
              </a:rPr>
              <a:t>USDC accrues; withdraw to your wallet in ~5s</a:t>
            </a:r>
          </a:p>
        </p:txBody>
      </p:sp>
      <p:sp>
        <p:nvSpPr>
          <p:cNvPr id="32" name="Rounded Rectangle 31"/>
          <p:cNvSpPr/>
          <p:nvPr/>
        </p:nvSpPr>
        <p:spPr>
          <a:xfrm>
            <a:off x="640080" y="4526280"/>
            <a:ext cx="10908792" cy="1371600"/>
          </a:xfrm>
          <a:prstGeom prst="roundRect">
            <a:avLst>
              <a:gd name="adj" fmla="val 6000"/>
            </a:avLst>
          </a:prstGeom>
          <a:solidFill>
            <a:srgbClr val="E7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68680" y="4709160"/>
            <a:ext cx="3383280" cy="1097280"/>
          </a:xfrm>
          <a:prstGeom prst="rect">
            <a:avLst/>
          </a:prstGeom>
          <a:noFill/>
        </p:spPr>
        <p:txBody>
          <a:bodyPr wrap="square" anchor="t" lIns="0" rIns="0" tIns="0" bIns="0">
            <a:spAutoFit/>
          </a:bodyPr>
          <a:lstStyle/>
          <a:p>
            <a:pPr algn="l">
              <a:lnSpc>
                <a:spcPct val="108000"/>
              </a:lnSpc>
              <a:spcBef>
                <a:spcPts val="0"/>
              </a:spcBef>
              <a:spcAft>
                <a:spcPts val="300"/>
              </a:spcAft>
            </a:pPr>
            <a:r>
              <a:rPr sz="1300" b="1" i="0">
                <a:solidFill>
                  <a:srgbClr val="006D3D"/>
                </a:solidFill>
                <a:latin typeface="Manrope"/>
              </a:rPr>
              <a:t>Quality built-in</a:t>
            </a:r>
          </a:p>
          <a:p>
            <a:pPr algn="l">
              <a:lnSpc>
                <a:spcPct val="108000"/>
              </a:lnSpc>
              <a:spcBef>
                <a:spcPts val="0"/>
              </a:spcBef>
              <a:spcAft>
                <a:spcPts val="300"/>
              </a:spcAft>
            </a:pPr>
            <a:r>
              <a:rPr sz="1080" b="0" i="0">
                <a:solidFill>
                  <a:srgbClr val="444A46"/>
                </a:solidFill>
                <a:latin typeface="Inter"/>
              </a:rPr>
              <a:t>Gold-standard checks, inter-annotator agreement, reason-spam &amp; bias guards, tiered anti-fraud.</a:t>
            </a:r>
          </a:p>
        </p:txBody>
      </p:sp>
      <p:sp>
        <p:nvSpPr>
          <p:cNvPr id="34" name="TextBox 33"/>
          <p:cNvSpPr txBox="1"/>
          <p:nvPr/>
        </p:nvSpPr>
        <p:spPr>
          <a:xfrm>
            <a:off x="4453128" y="4709160"/>
            <a:ext cx="3383280" cy="1097280"/>
          </a:xfrm>
          <a:prstGeom prst="rect">
            <a:avLst/>
          </a:prstGeom>
          <a:noFill/>
        </p:spPr>
        <p:txBody>
          <a:bodyPr wrap="square" anchor="t" lIns="0" rIns="0" tIns="0" bIns="0">
            <a:spAutoFit/>
          </a:bodyPr>
          <a:lstStyle/>
          <a:p>
            <a:pPr algn="l">
              <a:lnSpc>
                <a:spcPct val="108000"/>
              </a:lnSpc>
              <a:spcBef>
                <a:spcPts val="0"/>
              </a:spcBef>
              <a:spcAft>
                <a:spcPts val="300"/>
              </a:spcAft>
            </a:pPr>
            <a:r>
              <a:rPr sz="1300" b="1" i="0">
                <a:solidFill>
                  <a:srgbClr val="006D3D"/>
                </a:solidFill>
                <a:latin typeface="Manrope"/>
              </a:rPr>
              <a:t>Prepaid campaigns</a:t>
            </a:r>
          </a:p>
          <a:p>
            <a:pPr algn="l">
              <a:lnSpc>
                <a:spcPct val="108000"/>
              </a:lnSpc>
              <a:spcBef>
                <a:spcPts val="0"/>
              </a:spcBef>
              <a:spcAft>
                <a:spcPts val="300"/>
              </a:spcAft>
            </a:pPr>
            <a:r>
              <a:rPr sz="1080" b="0" i="0">
                <a:solidFill>
                  <a:srgbClr val="444A46"/>
                </a:solidFill>
                <a:latin typeface="Inter"/>
              </a:rPr>
              <a:t>Customers fund a USDC budget; every approved answer debits reward + fee — payouts never exceed budget.</a:t>
            </a:r>
          </a:p>
        </p:txBody>
      </p:sp>
      <p:sp>
        <p:nvSpPr>
          <p:cNvPr id="35" name="TextBox 34"/>
          <p:cNvSpPr txBox="1"/>
          <p:nvPr/>
        </p:nvSpPr>
        <p:spPr>
          <a:xfrm>
            <a:off x="8037576" y="4709160"/>
            <a:ext cx="3383280" cy="1097280"/>
          </a:xfrm>
          <a:prstGeom prst="rect">
            <a:avLst/>
          </a:prstGeom>
          <a:noFill/>
        </p:spPr>
        <p:txBody>
          <a:bodyPr wrap="square" anchor="t" lIns="0" rIns="0" tIns="0" bIns="0">
            <a:spAutoFit/>
          </a:bodyPr>
          <a:lstStyle/>
          <a:p>
            <a:pPr algn="l">
              <a:lnSpc>
                <a:spcPct val="108000"/>
              </a:lnSpc>
              <a:spcBef>
                <a:spcPts val="0"/>
              </a:spcBef>
              <a:spcAft>
                <a:spcPts val="300"/>
              </a:spcAft>
            </a:pPr>
            <a:r>
              <a:rPr sz="1300" b="1" i="0">
                <a:solidFill>
                  <a:srgbClr val="006D3D"/>
                </a:solidFill>
                <a:latin typeface="Manrope"/>
              </a:rPr>
              <a:t>Real settlement</a:t>
            </a:r>
          </a:p>
          <a:p>
            <a:pPr algn="l">
              <a:lnSpc>
                <a:spcPct val="108000"/>
              </a:lnSpc>
              <a:spcBef>
                <a:spcPts val="0"/>
              </a:spcBef>
              <a:spcAft>
                <a:spcPts val="300"/>
              </a:spcAft>
            </a:pPr>
            <a:r>
              <a:rPr sz="1080" b="0" i="0">
                <a:solidFill>
                  <a:srgbClr val="444A46"/>
                </a:solidFill>
                <a:latin typeface="Inter"/>
              </a:rPr>
              <a:t>Fraction-of-a-cent fees, public-ledger proof of every payout — no intermediaries skimming.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66928"/>
            <a:ext cx="384048" cy="82296"/>
          </a:xfrm>
          <a:prstGeom prst="rect">
            <a:avLst/>
          </a:prstGeom>
          <a:solidFill>
            <a:srgbClr val="006D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457200"/>
            <a:ext cx="8229600" cy="320040"/>
          </a:xfrm>
          <a:prstGeom prst="rect">
            <a:avLst/>
          </a:prstGeom>
          <a:noFill/>
        </p:spPr>
        <p:txBody>
          <a:bodyPr wrap="square" anchor="t" lIns="0" rIns="0" tIns="0" bIns="0">
            <a:spAutoFit/>
          </a:bodyPr>
          <a:lstStyle/>
          <a:p>
            <a:pPr algn="l">
              <a:lnSpc>
                <a:spcPct val="105000"/>
              </a:lnSpc>
              <a:spcBef>
                <a:spcPts val="0"/>
              </a:spcBef>
              <a:spcAft>
                <a:spcPts val="0"/>
              </a:spcAft>
            </a:pPr>
            <a:r>
              <a:rPr sz="1300" b="1" i="0">
                <a:solidFill>
                  <a:srgbClr val="006D3D"/>
                </a:solidFill>
                <a:latin typeface="Inter"/>
              </a:rPr>
              <a:t>WHY NOW</a:t>
            </a:r>
          </a:p>
        </p:txBody>
      </p:sp>
      <p:sp>
        <p:nvSpPr>
          <p:cNvPr id="5" name="TextBox 4"/>
          <p:cNvSpPr txBox="1"/>
          <p:nvPr/>
        </p:nvSpPr>
        <p:spPr>
          <a:xfrm>
            <a:off x="640080" y="6455664"/>
            <a:ext cx="3657600" cy="274320"/>
          </a:xfrm>
          <a:prstGeom prst="rect">
            <a:avLst/>
          </a:prstGeom>
          <a:noFill/>
        </p:spPr>
        <p:txBody>
          <a:bodyPr wrap="square" anchor="t" lIns="0" rIns="0" tIns="0" bIns="0">
            <a:spAutoFit/>
          </a:bodyPr>
          <a:lstStyle/>
          <a:p>
            <a:pPr algn="l">
              <a:lnSpc>
                <a:spcPct val="105000"/>
              </a:lnSpc>
              <a:spcBef>
                <a:spcPts val="0"/>
              </a:spcBef>
              <a:spcAft>
                <a:spcPts val="0"/>
              </a:spcAft>
            </a:pPr>
            <a:r>
              <a:rPr sz="900" b="1" i="0">
                <a:solidFill>
                  <a:srgbClr val="006D3D"/>
                </a:solidFill>
                <a:latin typeface="Manrope"/>
              </a:rPr>
              <a:t>Centient</a:t>
            </a:r>
            <a:r>
              <a:rPr sz="900" b="0" i="0">
                <a:solidFill>
                  <a:srgbClr val="444A46"/>
                </a:solidFill>
                <a:latin typeface="Inter"/>
              </a:rPr>
              <a:t>  ·  Train AI, cent by cent.</a:t>
            </a:r>
          </a:p>
        </p:txBody>
      </p:sp>
      <p:sp>
        <p:nvSpPr>
          <p:cNvPr id="6" name="TextBox 5"/>
          <p:cNvSpPr txBox="1"/>
          <p:nvPr/>
        </p:nvSpPr>
        <p:spPr>
          <a:xfrm>
            <a:off x="10424160" y="6455664"/>
            <a:ext cx="1097280" cy="274320"/>
          </a:xfrm>
          <a:prstGeom prst="rect">
            <a:avLst/>
          </a:prstGeom>
          <a:noFill/>
        </p:spPr>
        <p:txBody>
          <a:bodyPr wrap="square" anchor="t" lIns="0" rIns="0" tIns="0" bIns="0">
            <a:spAutoFit/>
          </a:bodyPr>
          <a:lstStyle/>
          <a:p>
            <a:pPr algn="r">
              <a:lnSpc>
                <a:spcPct val="105000"/>
              </a:lnSpc>
              <a:spcBef>
                <a:spcPts val="0"/>
              </a:spcBef>
              <a:spcAft>
                <a:spcPts val="0"/>
              </a:spcAft>
            </a:pPr>
            <a:r>
              <a:rPr sz="900" b="1" i="0">
                <a:solidFill>
                  <a:srgbClr val="444A46"/>
                </a:solidFill>
                <a:latin typeface="Inter"/>
              </a:rPr>
              <a:t>04</a:t>
            </a:r>
          </a:p>
        </p:txBody>
      </p:sp>
      <p:sp>
        <p:nvSpPr>
          <p:cNvPr id="7" name="TextBox 6"/>
          <p:cNvSpPr txBox="1"/>
          <p:nvPr/>
        </p:nvSpPr>
        <p:spPr>
          <a:xfrm>
            <a:off x="640080" y="841248"/>
            <a:ext cx="10881360" cy="914400"/>
          </a:xfrm>
          <a:prstGeom prst="rect">
            <a:avLst/>
          </a:prstGeom>
          <a:noFill/>
        </p:spPr>
        <p:txBody>
          <a:bodyPr wrap="square" anchor="t" lIns="0" rIns="0" tIns="0" bIns="0">
            <a:spAutoFit/>
          </a:bodyPr>
          <a:lstStyle/>
          <a:p>
            <a:pPr algn="l">
              <a:lnSpc>
                <a:spcPct val="100000"/>
              </a:lnSpc>
              <a:spcBef>
                <a:spcPts val="0"/>
              </a:spcBef>
              <a:spcAft>
                <a:spcPts val="0"/>
              </a:spcAft>
            </a:pPr>
            <a:r>
              <a:rPr sz="3000" b="1" i="0">
                <a:solidFill>
                  <a:srgbClr val="1A1C19"/>
                </a:solidFill>
                <a:latin typeface="Manrope"/>
              </a:rPr>
              <a:t>Three curves are crossing in 2026</a:t>
            </a:r>
          </a:p>
        </p:txBody>
      </p:sp>
      <p:sp>
        <p:nvSpPr>
          <p:cNvPr id="8" name="Rounded Rectangle 7"/>
          <p:cNvSpPr/>
          <p:nvPr/>
        </p:nvSpPr>
        <p:spPr>
          <a:xfrm>
            <a:off x="640080" y="1737360"/>
            <a:ext cx="10908792" cy="1207008"/>
          </a:xfrm>
          <a:prstGeom prst="roundRect">
            <a:avLst>
              <a:gd name="adj" fmla="val 6000"/>
            </a:avLst>
          </a:prstGeom>
          <a:solidFill>
            <a:srgbClr val="FFFFFF"/>
          </a:solidFill>
          <a:ln w="12700">
            <a:solidFill>
              <a:srgbClr val="D7DD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96112" y="2066544"/>
            <a:ext cx="566928" cy="566928"/>
          </a:xfrm>
          <a:prstGeom prst="ellipse">
            <a:avLst/>
          </a:prstGeom>
          <a:solidFill>
            <a:srgbClr val="006D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2066544"/>
            <a:ext cx="566928" cy="566928"/>
          </a:xfrm>
          <a:prstGeom prst="rect">
            <a:avLst/>
          </a:prstGeom>
          <a:noFill/>
        </p:spPr>
        <p:txBody>
          <a:bodyPr wrap="square" anchor="ctr" lIns="0" rIns="0" tIns="0" bIns="0">
            <a:spAutoFit/>
          </a:bodyPr>
          <a:lstStyle/>
          <a:p>
            <a:pPr algn="ctr">
              <a:lnSpc>
                <a:spcPct val="105000"/>
              </a:lnSpc>
              <a:spcBef>
                <a:spcPts val="0"/>
              </a:spcBef>
              <a:spcAft>
                <a:spcPts val="0"/>
              </a:spcAft>
            </a:pPr>
            <a:r>
              <a:rPr sz="2200" b="1" i="0">
                <a:solidFill>
                  <a:srgbClr val="FFFFFF"/>
                </a:solidFill>
                <a:latin typeface="Manrope"/>
              </a:rPr>
              <a:t>1</a:t>
            </a:r>
          </a:p>
        </p:txBody>
      </p:sp>
      <p:sp>
        <p:nvSpPr>
          <p:cNvPr id="11" name="TextBox 10"/>
          <p:cNvSpPr txBox="1"/>
          <p:nvPr/>
        </p:nvSpPr>
        <p:spPr>
          <a:xfrm>
            <a:off x="1691640" y="1938528"/>
            <a:ext cx="9509760" cy="457200"/>
          </a:xfrm>
          <a:prstGeom prst="rect">
            <a:avLst/>
          </a:prstGeom>
          <a:noFill/>
        </p:spPr>
        <p:txBody>
          <a:bodyPr wrap="square" anchor="t" lIns="0" rIns="0" tIns="0" bIns="0">
            <a:spAutoFit/>
          </a:bodyPr>
          <a:lstStyle/>
          <a:p>
            <a:pPr algn="l">
              <a:lnSpc>
                <a:spcPct val="105000"/>
              </a:lnSpc>
              <a:spcBef>
                <a:spcPts val="0"/>
              </a:spcBef>
              <a:spcAft>
                <a:spcPts val="0"/>
              </a:spcAft>
            </a:pPr>
            <a:r>
              <a:rPr sz="1600" b="1" i="0">
                <a:solidFill>
                  <a:srgbClr val="1A1C19"/>
                </a:solidFill>
                <a:latin typeface="Manrope"/>
              </a:rPr>
              <a:t>Neutral AI-data demand is surging</a:t>
            </a:r>
          </a:p>
        </p:txBody>
      </p:sp>
      <p:sp>
        <p:nvSpPr>
          <p:cNvPr id="12" name="TextBox 11"/>
          <p:cNvSpPr txBox="1"/>
          <p:nvPr/>
        </p:nvSpPr>
        <p:spPr>
          <a:xfrm>
            <a:off x="1691640" y="2340864"/>
            <a:ext cx="9601200" cy="548640"/>
          </a:xfrm>
          <a:prstGeom prst="rect">
            <a:avLst/>
          </a:prstGeom>
          <a:noFill/>
        </p:spPr>
        <p:txBody>
          <a:bodyPr wrap="square" anchor="t" lIns="0" rIns="0" tIns="0" bIns="0">
            <a:spAutoFit/>
          </a:bodyPr>
          <a:lstStyle/>
          <a:p>
            <a:pPr algn="l">
              <a:lnSpc>
                <a:spcPct val="106000"/>
              </a:lnSpc>
              <a:spcBef>
                <a:spcPts val="0"/>
              </a:spcBef>
              <a:spcAft>
                <a:spcPts val="0"/>
              </a:spcAft>
            </a:pPr>
            <a:r>
              <a:rPr sz="1250" b="0" i="0">
                <a:solidFill>
                  <a:srgbClr val="444A46"/>
                </a:solidFill>
                <a:latin typeface="Inter"/>
              </a:rPr>
              <a:t>After Meta's ~$14B Scale stake, labs (Google, OpenAI) actively seek independent, non-conflicted data suppliers. RLHF/expert data is the fastest-growing, highest-value slice.</a:t>
            </a:r>
          </a:p>
        </p:txBody>
      </p:sp>
      <p:sp>
        <p:nvSpPr>
          <p:cNvPr id="13" name="Rounded Rectangle 12"/>
          <p:cNvSpPr/>
          <p:nvPr/>
        </p:nvSpPr>
        <p:spPr>
          <a:xfrm>
            <a:off x="640080" y="3108960"/>
            <a:ext cx="10908792" cy="1207008"/>
          </a:xfrm>
          <a:prstGeom prst="roundRect">
            <a:avLst>
              <a:gd name="adj" fmla="val 6000"/>
            </a:avLst>
          </a:prstGeom>
          <a:solidFill>
            <a:srgbClr val="FFFFFF"/>
          </a:solidFill>
          <a:ln w="12700">
            <a:solidFill>
              <a:srgbClr val="D7DD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96112" y="3438144"/>
            <a:ext cx="566928" cy="566928"/>
          </a:xfrm>
          <a:prstGeom prst="ellipse">
            <a:avLst/>
          </a:prstGeom>
          <a:solidFill>
            <a:srgbClr val="785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3438144"/>
            <a:ext cx="566928" cy="566928"/>
          </a:xfrm>
          <a:prstGeom prst="rect">
            <a:avLst/>
          </a:prstGeom>
          <a:noFill/>
        </p:spPr>
        <p:txBody>
          <a:bodyPr wrap="square" anchor="ctr" lIns="0" rIns="0" tIns="0" bIns="0">
            <a:spAutoFit/>
          </a:bodyPr>
          <a:lstStyle/>
          <a:p>
            <a:pPr algn="ctr">
              <a:lnSpc>
                <a:spcPct val="105000"/>
              </a:lnSpc>
              <a:spcBef>
                <a:spcPts val="0"/>
              </a:spcBef>
              <a:spcAft>
                <a:spcPts val="0"/>
              </a:spcAft>
            </a:pPr>
            <a:r>
              <a:rPr sz="2200" b="1" i="0">
                <a:solidFill>
                  <a:srgbClr val="FFFFFF"/>
                </a:solidFill>
                <a:latin typeface="Manrope"/>
              </a:rPr>
              <a:t>2</a:t>
            </a:r>
          </a:p>
        </p:txBody>
      </p:sp>
      <p:sp>
        <p:nvSpPr>
          <p:cNvPr id="16" name="TextBox 15"/>
          <p:cNvSpPr txBox="1"/>
          <p:nvPr/>
        </p:nvSpPr>
        <p:spPr>
          <a:xfrm>
            <a:off x="1691640" y="3310128"/>
            <a:ext cx="9509760" cy="457200"/>
          </a:xfrm>
          <a:prstGeom prst="rect">
            <a:avLst/>
          </a:prstGeom>
          <a:noFill/>
        </p:spPr>
        <p:txBody>
          <a:bodyPr wrap="square" anchor="t" lIns="0" rIns="0" tIns="0" bIns="0">
            <a:spAutoFit/>
          </a:bodyPr>
          <a:lstStyle/>
          <a:p>
            <a:pPr algn="l">
              <a:lnSpc>
                <a:spcPct val="105000"/>
              </a:lnSpc>
              <a:spcBef>
                <a:spcPts val="0"/>
              </a:spcBef>
              <a:spcAft>
                <a:spcPts val="0"/>
              </a:spcAft>
            </a:pPr>
            <a:r>
              <a:rPr sz="1600" b="1" i="0">
                <a:solidFill>
                  <a:srgbClr val="1A1C19"/>
                </a:solidFill>
                <a:latin typeface="Manrope"/>
              </a:rPr>
              <a:t>Stellar owns the emerging-market cash-out rail</a:t>
            </a:r>
          </a:p>
        </p:txBody>
      </p:sp>
      <p:sp>
        <p:nvSpPr>
          <p:cNvPr id="17" name="TextBox 16"/>
          <p:cNvSpPr txBox="1"/>
          <p:nvPr/>
        </p:nvSpPr>
        <p:spPr>
          <a:xfrm>
            <a:off x="1691640" y="3712464"/>
            <a:ext cx="9601200" cy="548640"/>
          </a:xfrm>
          <a:prstGeom prst="rect">
            <a:avLst/>
          </a:prstGeom>
          <a:noFill/>
        </p:spPr>
        <p:txBody>
          <a:bodyPr wrap="square" anchor="t" lIns="0" rIns="0" tIns="0" bIns="0">
            <a:spAutoFit/>
          </a:bodyPr>
          <a:lstStyle/>
          <a:p>
            <a:pPr algn="l">
              <a:lnSpc>
                <a:spcPct val="106000"/>
              </a:lnSpc>
              <a:spcBef>
                <a:spcPts val="0"/>
              </a:spcBef>
              <a:spcAft>
                <a:spcPts val="0"/>
              </a:spcAft>
            </a:pPr>
            <a:r>
              <a:rPr sz="1250" b="0" i="0">
                <a:solidFill>
                  <a:srgbClr val="444A46"/>
                </a:solidFill>
                <a:latin typeface="Inter"/>
              </a:rPr>
              <a:t>MoneyGram + Circle on Stellar have moved &gt;$4.2B in USDC remittances across ~500k cash points in 200+ countries — a corridor a US-only competitor can't copy.</a:t>
            </a:r>
          </a:p>
        </p:txBody>
      </p:sp>
      <p:sp>
        <p:nvSpPr>
          <p:cNvPr id="18" name="Rounded Rectangle 17"/>
          <p:cNvSpPr/>
          <p:nvPr/>
        </p:nvSpPr>
        <p:spPr>
          <a:xfrm>
            <a:off x="640080" y="4480560"/>
            <a:ext cx="10908792" cy="1207008"/>
          </a:xfrm>
          <a:prstGeom prst="roundRect">
            <a:avLst>
              <a:gd name="adj" fmla="val 6000"/>
            </a:avLst>
          </a:prstGeom>
          <a:solidFill>
            <a:srgbClr val="FFFFFF"/>
          </a:solidFill>
          <a:ln w="12700">
            <a:solidFill>
              <a:srgbClr val="D7DD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96112" y="4809744"/>
            <a:ext cx="566928" cy="566928"/>
          </a:xfrm>
          <a:prstGeom prst="ellipse">
            <a:avLst/>
          </a:prstGeom>
          <a:solidFill>
            <a:srgbClr val="0054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96112" y="4809744"/>
            <a:ext cx="566928" cy="566928"/>
          </a:xfrm>
          <a:prstGeom prst="rect">
            <a:avLst/>
          </a:prstGeom>
          <a:noFill/>
        </p:spPr>
        <p:txBody>
          <a:bodyPr wrap="square" anchor="ctr" lIns="0" rIns="0" tIns="0" bIns="0">
            <a:spAutoFit/>
          </a:bodyPr>
          <a:lstStyle/>
          <a:p>
            <a:pPr algn="ctr">
              <a:lnSpc>
                <a:spcPct val="105000"/>
              </a:lnSpc>
              <a:spcBef>
                <a:spcPts val="0"/>
              </a:spcBef>
              <a:spcAft>
                <a:spcPts val="0"/>
              </a:spcAft>
            </a:pPr>
            <a:r>
              <a:rPr sz="2200" b="1" i="0">
                <a:solidFill>
                  <a:srgbClr val="FFFFFF"/>
                </a:solidFill>
                <a:latin typeface="Manrope"/>
              </a:rPr>
              <a:t>3</a:t>
            </a:r>
          </a:p>
        </p:txBody>
      </p:sp>
      <p:sp>
        <p:nvSpPr>
          <p:cNvPr id="21" name="TextBox 20"/>
          <p:cNvSpPr txBox="1"/>
          <p:nvPr/>
        </p:nvSpPr>
        <p:spPr>
          <a:xfrm>
            <a:off x="1691640" y="4681728"/>
            <a:ext cx="9509760" cy="457200"/>
          </a:xfrm>
          <a:prstGeom prst="rect">
            <a:avLst/>
          </a:prstGeom>
          <a:noFill/>
        </p:spPr>
        <p:txBody>
          <a:bodyPr wrap="square" anchor="t" lIns="0" rIns="0" tIns="0" bIns="0">
            <a:spAutoFit/>
          </a:bodyPr>
          <a:lstStyle/>
          <a:p>
            <a:pPr algn="l">
              <a:lnSpc>
                <a:spcPct val="105000"/>
              </a:lnSpc>
              <a:spcBef>
                <a:spcPts val="0"/>
              </a:spcBef>
              <a:spcAft>
                <a:spcPts val="0"/>
              </a:spcAft>
            </a:pPr>
            <a:r>
              <a:rPr sz="1600" b="1" i="0">
                <a:solidFill>
                  <a:srgbClr val="1A1C19"/>
                </a:solidFill>
                <a:latin typeface="Manrope"/>
              </a:rPr>
              <a:t>Stablecoin micropayments finally pencil out</a:t>
            </a:r>
          </a:p>
        </p:txBody>
      </p:sp>
      <p:sp>
        <p:nvSpPr>
          <p:cNvPr id="22" name="TextBox 21"/>
          <p:cNvSpPr txBox="1"/>
          <p:nvPr/>
        </p:nvSpPr>
        <p:spPr>
          <a:xfrm>
            <a:off x="1691640" y="5084064"/>
            <a:ext cx="9601200" cy="548640"/>
          </a:xfrm>
          <a:prstGeom prst="rect">
            <a:avLst/>
          </a:prstGeom>
          <a:noFill/>
        </p:spPr>
        <p:txBody>
          <a:bodyPr wrap="square" anchor="t" lIns="0" rIns="0" tIns="0" bIns="0">
            <a:spAutoFit/>
          </a:bodyPr>
          <a:lstStyle/>
          <a:p>
            <a:pPr algn="l">
              <a:lnSpc>
                <a:spcPct val="106000"/>
              </a:lnSpc>
              <a:spcBef>
                <a:spcPts val="0"/>
              </a:spcBef>
              <a:spcAft>
                <a:spcPts val="0"/>
              </a:spcAft>
            </a:pPr>
            <a:r>
              <a:rPr sz="1250" b="0" i="0">
                <a:solidFill>
                  <a:srgbClr val="444A46"/>
                </a:solidFill>
                <a:latin typeface="Inter"/>
              </a:rPr>
              <a:t>Stellar's ~$0.00001 base fee makes cent-level payouts viable; emerging-market stablecoin demand (LatAm, SE Asia) is growing triple digits YoY.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66928"/>
            <a:ext cx="384048" cy="82296"/>
          </a:xfrm>
          <a:prstGeom prst="rect">
            <a:avLst/>
          </a:prstGeom>
          <a:solidFill>
            <a:srgbClr val="006D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457200"/>
            <a:ext cx="8229600" cy="320040"/>
          </a:xfrm>
          <a:prstGeom prst="rect">
            <a:avLst/>
          </a:prstGeom>
          <a:noFill/>
        </p:spPr>
        <p:txBody>
          <a:bodyPr wrap="square" anchor="t" lIns="0" rIns="0" tIns="0" bIns="0">
            <a:spAutoFit/>
          </a:bodyPr>
          <a:lstStyle/>
          <a:p>
            <a:pPr algn="l">
              <a:lnSpc>
                <a:spcPct val="105000"/>
              </a:lnSpc>
              <a:spcBef>
                <a:spcPts val="0"/>
              </a:spcBef>
              <a:spcAft>
                <a:spcPts val="0"/>
              </a:spcAft>
            </a:pPr>
            <a:r>
              <a:rPr sz="1300" b="1" i="0">
                <a:solidFill>
                  <a:srgbClr val="006D3D"/>
                </a:solidFill>
                <a:latin typeface="Inter"/>
              </a:rPr>
              <a:t>PRODUCT</a:t>
            </a:r>
          </a:p>
        </p:txBody>
      </p:sp>
      <p:sp>
        <p:nvSpPr>
          <p:cNvPr id="5" name="TextBox 4"/>
          <p:cNvSpPr txBox="1"/>
          <p:nvPr/>
        </p:nvSpPr>
        <p:spPr>
          <a:xfrm>
            <a:off x="640080" y="6455664"/>
            <a:ext cx="3657600" cy="274320"/>
          </a:xfrm>
          <a:prstGeom prst="rect">
            <a:avLst/>
          </a:prstGeom>
          <a:noFill/>
        </p:spPr>
        <p:txBody>
          <a:bodyPr wrap="square" anchor="t" lIns="0" rIns="0" tIns="0" bIns="0">
            <a:spAutoFit/>
          </a:bodyPr>
          <a:lstStyle/>
          <a:p>
            <a:pPr algn="l">
              <a:lnSpc>
                <a:spcPct val="105000"/>
              </a:lnSpc>
              <a:spcBef>
                <a:spcPts val="0"/>
              </a:spcBef>
              <a:spcAft>
                <a:spcPts val="0"/>
              </a:spcAft>
            </a:pPr>
            <a:r>
              <a:rPr sz="900" b="1" i="0">
                <a:solidFill>
                  <a:srgbClr val="006D3D"/>
                </a:solidFill>
                <a:latin typeface="Manrope"/>
              </a:rPr>
              <a:t>Centient</a:t>
            </a:r>
            <a:r>
              <a:rPr sz="900" b="0" i="0">
                <a:solidFill>
                  <a:srgbClr val="444A46"/>
                </a:solidFill>
                <a:latin typeface="Inter"/>
              </a:rPr>
              <a:t>  ·  Train AI, cent by cent.</a:t>
            </a:r>
          </a:p>
        </p:txBody>
      </p:sp>
      <p:sp>
        <p:nvSpPr>
          <p:cNvPr id="6" name="TextBox 5"/>
          <p:cNvSpPr txBox="1"/>
          <p:nvPr/>
        </p:nvSpPr>
        <p:spPr>
          <a:xfrm>
            <a:off x="10424160" y="6455664"/>
            <a:ext cx="1097280" cy="274320"/>
          </a:xfrm>
          <a:prstGeom prst="rect">
            <a:avLst/>
          </a:prstGeom>
          <a:noFill/>
        </p:spPr>
        <p:txBody>
          <a:bodyPr wrap="square" anchor="t" lIns="0" rIns="0" tIns="0" bIns="0">
            <a:spAutoFit/>
          </a:bodyPr>
          <a:lstStyle/>
          <a:p>
            <a:pPr algn="r">
              <a:lnSpc>
                <a:spcPct val="105000"/>
              </a:lnSpc>
              <a:spcBef>
                <a:spcPts val="0"/>
              </a:spcBef>
              <a:spcAft>
                <a:spcPts val="0"/>
              </a:spcAft>
            </a:pPr>
            <a:r>
              <a:rPr sz="900" b="1" i="0">
                <a:solidFill>
                  <a:srgbClr val="444A46"/>
                </a:solidFill>
                <a:latin typeface="Inter"/>
              </a:rPr>
              <a:t>05</a:t>
            </a:r>
          </a:p>
        </p:txBody>
      </p:sp>
      <p:sp>
        <p:nvSpPr>
          <p:cNvPr id="7" name="TextBox 6"/>
          <p:cNvSpPr txBox="1"/>
          <p:nvPr/>
        </p:nvSpPr>
        <p:spPr>
          <a:xfrm>
            <a:off x="640080" y="841248"/>
            <a:ext cx="10881360" cy="914400"/>
          </a:xfrm>
          <a:prstGeom prst="rect">
            <a:avLst/>
          </a:prstGeom>
          <a:noFill/>
        </p:spPr>
        <p:txBody>
          <a:bodyPr wrap="square" anchor="t" lIns="0" rIns="0" tIns="0" bIns="0">
            <a:spAutoFit/>
          </a:bodyPr>
          <a:lstStyle/>
          <a:p>
            <a:pPr algn="l">
              <a:lnSpc>
                <a:spcPct val="100000"/>
              </a:lnSpc>
              <a:spcBef>
                <a:spcPts val="0"/>
              </a:spcBef>
              <a:spcAft>
                <a:spcPts val="0"/>
              </a:spcAft>
            </a:pPr>
            <a:r>
              <a:rPr sz="3000" b="1" i="0">
                <a:solidFill>
                  <a:srgbClr val="1A1C19"/>
                </a:solidFill>
                <a:latin typeface="Manrope"/>
              </a:rPr>
              <a:t>One platform, two sides of a marketplace</a:t>
            </a:r>
          </a:p>
        </p:txBody>
      </p:sp>
      <p:sp>
        <p:nvSpPr>
          <p:cNvPr id="8" name="Rounded Rectangle 7"/>
          <p:cNvSpPr/>
          <p:nvPr/>
        </p:nvSpPr>
        <p:spPr>
          <a:xfrm>
            <a:off x="640080" y="1737360"/>
            <a:ext cx="5349240" cy="2148840"/>
          </a:xfrm>
          <a:prstGeom prst="roundRect">
            <a:avLst>
              <a:gd name="adj" fmla="val 6000"/>
            </a:avLst>
          </a:prstGeom>
          <a:solidFill>
            <a:srgbClr val="FFFFFF"/>
          </a:solidFill>
          <a:ln w="12700">
            <a:solidFill>
              <a:srgbClr val="D7DD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1737360"/>
            <a:ext cx="82296" cy="2148840"/>
          </a:xfrm>
          <a:prstGeom prst="rect">
            <a:avLst/>
          </a:prstGeom>
          <a:solidFill>
            <a:srgbClr val="006D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1938528"/>
            <a:ext cx="4983480" cy="274320"/>
          </a:xfrm>
          <a:prstGeom prst="rect">
            <a:avLst/>
          </a:prstGeom>
          <a:noFill/>
        </p:spPr>
        <p:txBody>
          <a:bodyPr wrap="square" anchor="t" lIns="0" rIns="0" tIns="0" bIns="0">
            <a:spAutoFit/>
          </a:bodyPr>
          <a:lstStyle/>
          <a:p>
            <a:pPr algn="l">
              <a:lnSpc>
                <a:spcPct val="105000"/>
              </a:lnSpc>
              <a:spcBef>
                <a:spcPts val="0"/>
              </a:spcBef>
              <a:spcAft>
                <a:spcPts val="0"/>
              </a:spcAft>
            </a:pPr>
            <a:r>
              <a:rPr sz="950" b="1" i="0">
                <a:solidFill>
                  <a:srgbClr val="006D3D"/>
                </a:solidFill>
                <a:latin typeface="Inter"/>
              </a:rPr>
              <a:t>MOBILE-FIRST WEB APP</a:t>
            </a:r>
          </a:p>
        </p:txBody>
      </p:sp>
      <p:sp>
        <p:nvSpPr>
          <p:cNvPr id="11" name="TextBox 10"/>
          <p:cNvSpPr txBox="1"/>
          <p:nvPr/>
        </p:nvSpPr>
        <p:spPr>
          <a:xfrm>
            <a:off x="859536" y="2212848"/>
            <a:ext cx="4983480" cy="365760"/>
          </a:xfrm>
          <a:prstGeom prst="rect">
            <a:avLst/>
          </a:prstGeom>
          <a:noFill/>
        </p:spPr>
        <p:txBody>
          <a:bodyPr wrap="square" anchor="t" lIns="0" rIns="0" tIns="0" bIns="0">
            <a:spAutoFit/>
          </a:bodyPr>
          <a:lstStyle/>
          <a:p>
            <a:pPr algn="l">
              <a:lnSpc>
                <a:spcPct val="100000"/>
              </a:lnSpc>
              <a:spcBef>
                <a:spcPts val="0"/>
              </a:spcBef>
              <a:spcAft>
                <a:spcPts val="0"/>
              </a:spcAft>
            </a:pPr>
            <a:r>
              <a:rPr sz="1400" b="1" i="0">
                <a:solidFill>
                  <a:srgbClr val="1A1C19"/>
                </a:solidFill>
                <a:latin typeface="Manrope"/>
              </a:rPr>
              <a:t>For labelers (supply)</a:t>
            </a:r>
          </a:p>
        </p:txBody>
      </p:sp>
      <p:sp>
        <p:nvSpPr>
          <p:cNvPr id="12" name="TextBox 11"/>
          <p:cNvSpPr txBox="1"/>
          <p:nvPr/>
        </p:nvSpPr>
        <p:spPr>
          <a:xfrm>
            <a:off x="859536" y="2596896"/>
            <a:ext cx="4965192" cy="1216152"/>
          </a:xfrm>
          <a:prstGeom prst="rect">
            <a:avLst/>
          </a:prstGeom>
          <a:noFill/>
        </p:spPr>
        <p:txBody>
          <a:bodyPr wrap="square" anchor="t" lIns="0" rIns="0" tIns="0" bIns="0">
            <a:spAutoFit/>
          </a:bodyPr>
          <a:lstStyle/>
          <a:p>
            <a:pPr algn="l">
              <a:lnSpc>
                <a:spcPct val="106000"/>
              </a:lnSpc>
              <a:spcBef>
                <a:spcPts val="0"/>
              </a:spcBef>
              <a:spcAft>
                <a:spcPts val="0"/>
              </a:spcAft>
            </a:pPr>
            <a:r>
              <a:rPr sz="1150" b="0" i="0">
                <a:solidFill>
                  <a:srgbClr val="444A46"/>
                </a:solidFill>
                <a:latin typeface="Inter"/>
              </a:rPr>
              <a:t>Wallet or email sign-in · onboarding &amp; demographics · the A/B task loop with instant quality feedback · live USDC balance · one-tap withdrawal · earnings history · dispute/appeal flow.</a:t>
            </a:r>
          </a:p>
        </p:txBody>
      </p:sp>
      <p:sp>
        <p:nvSpPr>
          <p:cNvPr id="13" name="Rounded Rectangle 12"/>
          <p:cNvSpPr/>
          <p:nvPr/>
        </p:nvSpPr>
        <p:spPr>
          <a:xfrm>
            <a:off x="6199632" y="1737360"/>
            <a:ext cx="5349240" cy="2148840"/>
          </a:xfrm>
          <a:prstGeom prst="roundRect">
            <a:avLst>
              <a:gd name="adj" fmla="val 6000"/>
            </a:avLst>
          </a:prstGeom>
          <a:solidFill>
            <a:srgbClr val="FFFFFF"/>
          </a:solidFill>
          <a:ln w="12700">
            <a:solidFill>
              <a:srgbClr val="D7DD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99632" y="1737360"/>
            <a:ext cx="82296" cy="2148840"/>
          </a:xfrm>
          <a:prstGeom prst="rect">
            <a:avLst/>
          </a:prstGeom>
          <a:solidFill>
            <a:srgbClr val="785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19088" y="1938528"/>
            <a:ext cx="4983480" cy="274320"/>
          </a:xfrm>
          <a:prstGeom prst="rect">
            <a:avLst/>
          </a:prstGeom>
          <a:noFill/>
        </p:spPr>
        <p:txBody>
          <a:bodyPr wrap="square" anchor="t" lIns="0" rIns="0" tIns="0" bIns="0">
            <a:spAutoFit/>
          </a:bodyPr>
          <a:lstStyle/>
          <a:p>
            <a:pPr algn="l">
              <a:lnSpc>
                <a:spcPct val="105000"/>
              </a:lnSpc>
              <a:spcBef>
                <a:spcPts val="0"/>
              </a:spcBef>
              <a:spcAft>
                <a:spcPts val="0"/>
              </a:spcAft>
            </a:pPr>
            <a:r>
              <a:rPr sz="950" b="1" i="0">
                <a:solidFill>
                  <a:srgbClr val="785A00"/>
                </a:solidFill>
                <a:latin typeface="Inter"/>
              </a:rPr>
              <a:t>ADMIN &amp; CAMPAIGN CONSOLE</a:t>
            </a:r>
          </a:p>
        </p:txBody>
      </p:sp>
      <p:sp>
        <p:nvSpPr>
          <p:cNvPr id="16" name="TextBox 15"/>
          <p:cNvSpPr txBox="1"/>
          <p:nvPr/>
        </p:nvSpPr>
        <p:spPr>
          <a:xfrm>
            <a:off x="6419088" y="2212848"/>
            <a:ext cx="4983480" cy="365760"/>
          </a:xfrm>
          <a:prstGeom prst="rect">
            <a:avLst/>
          </a:prstGeom>
          <a:noFill/>
        </p:spPr>
        <p:txBody>
          <a:bodyPr wrap="square" anchor="t" lIns="0" rIns="0" tIns="0" bIns="0">
            <a:spAutoFit/>
          </a:bodyPr>
          <a:lstStyle/>
          <a:p>
            <a:pPr algn="l">
              <a:lnSpc>
                <a:spcPct val="100000"/>
              </a:lnSpc>
              <a:spcBef>
                <a:spcPts val="0"/>
              </a:spcBef>
              <a:spcAft>
                <a:spcPts val="0"/>
              </a:spcAft>
            </a:pPr>
            <a:r>
              <a:rPr sz="1400" b="1" i="0">
                <a:solidFill>
                  <a:srgbClr val="1A1C19"/>
                </a:solidFill>
                <a:latin typeface="Manrope"/>
              </a:rPr>
              <a:t>For customers (demand)</a:t>
            </a:r>
          </a:p>
        </p:txBody>
      </p:sp>
      <p:sp>
        <p:nvSpPr>
          <p:cNvPr id="17" name="TextBox 16"/>
          <p:cNvSpPr txBox="1"/>
          <p:nvPr/>
        </p:nvSpPr>
        <p:spPr>
          <a:xfrm>
            <a:off x="6419088" y="2596896"/>
            <a:ext cx="4965192" cy="1216152"/>
          </a:xfrm>
          <a:prstGeom prst="rect">
            <a:avLst/>
          </a:prstGeom>
          <a:noFill/>
        </p:spPr>
        <p:txBody>
          <a:bodyPr wrap="square" anchor="t" lIns="0" rIns="0" tIns="0" bIns="0">
            <a:spAutoFit/>
          </a:bodyPr>
          <a:lstStyle/>
          <a:p>
            <a:pPr algn="l">
              <a:lnSpc>
                <a:spcPct val="106000"/>
              </a:lnSpc>
              <a:spcBef>
                <a:spcPts val="0"/>
              </a:spcBef>
              <a:spcAft>
                <a:spcPts val="0"/>
              </a:spcAft>
            </a:pPr>
            <a:r>
              <a:rPr sz="1150" b="0" i="0">
                <a:solidFill>
                  <a:srgbClr val="444A46"/>
                </a:solidFill>
                <a:latin typeface="Inter"/>
              </a:rPr>
              <a:t>AI labs &amp; companies self-serve: create a campaign, fund a USDC budget, bulk-upload tasks by CSV, watch response progress, and export chosen/rejected preference pairs (JSONL/CSV) with a train/test split.</a:t>
            </a:r>
          </a:p>
        </p:txBody>
      </p:sp>
      <p:sp>
        <p:nvSpPr>
          <p:cNvPr id="18" name="Rounded Rectangle 17"/>
          <p:cNvSpPr/>
          <p:nvPr/>
        </p:nvSpPr>
        <p:spPr>
          <a:xfrm>
            <a:off x="640080" y="4114800"/>
            <a:ext cx="10908792" cy="1737360"/>
          </a:xfrm>
          <a:prstGeom prst="roundRect">
            <a:avLst>
              <a:gd name="adj" fmla="val 6000"/>
            </a:avLst>
          </a:prstGeom>
          <a:solidFill>
            <a:srgbClr val="FFFFFF"/>
          </a:solidFill>
          <a:ln w="12700">
            <a:solidFill>
              <a:srgbClr val="D7DD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4297680"/>
            <a:ext cx="10332720" cy="365760"/>
          </a:xfrm>
          <a:prstGeom prst="rect">
            <a:avLst/>
          </a:prstGeom>
          <a:noFill/>
        </p:spPr>
        <p:txBody>
          <a:bodyPr wrap="square" anchor="t" lIns="0" rIns="0" tIns="0" bIns="0">
            <a:spAutoFit/>
          </a:bodyPr>
          <a:lstStyle/>
          <a:p>
            <a:pPr algn="l">
              <a:lnSpc>
                <a:spcPct val="105000"/>
              </a:lnSpc>
              <a:spcBef>
                <a:spcPts val="0"/>
              </a:spcBef>
              <a:spcAft>
                <a:spcPts val="0"/>
              </a:spcAft>
            </a:pPr>
            <a:r>
              <a:rPr sz="1400" b="1" i="0">
                <a:solidFill>
                  <a:srgbClr val="006D3D"/>
                </a:solidFill>
                <a:latin typeface="Manrope"/>
              </a:rPr>
              <a:t>Under the hood — production-grade today</a:t>
            </a:r>
          </a:p>
        </p:txBody>
      </p:sp>
      <p:sp>
        <p:nvSpPr>
          <p:cNvPr id="20" name="TextBox 19"/>
          <p:cNvSpPr txBox="1"/>
          <p:nvPr/>
        </p:nvSpPr>
        <p:spPr>
          <a:xfrm>
            <a:off x="914400" y="4709160"/>
            <a:ext cx="3566160" cy="365760"/>
          </a:xfrm>
          <a:prstGeom prst="rect">
            <a:avLst/>
          </a:prstGeom>
          <a:noFill/>
        </p:spPr>
        <p:txBody>
          <a:bodyPr wrap="square" anchor="t" lIns="0" rIns="0" tIns="0" bIns="0">
            <a:spAutoFit/>
          </a:bodyPr>
          <a:lstStyle/>
          <a:p>
            <a:pPr algn="l">
              <a:lnSpc>
                <a:spcPct val="105000"/>
              </a:lnSpc>
              <a:spcBef>
                <a:spcPts val="0"/>
              </a:spcBef>
              <a:spcAft>
                <a:spcPts val="0"/>
              </a:spcAft>
            </a:pPr>
            <a:r>
              <a:rPr sz="1200" b="1" i="0">
                <a:solidFill>
                  <a:srgbClr val="35D07F"/>
                </a:solidFill>
                <a:latin typeface="Inter"/>
              </a:rPr>
              <a:t>✓  </a:t>
            </a:r>
            <a:r>
              <a:rPr sz="1200" b="0" i="0">
                <a:solidFill>
                  <a:srgbClr val="1A1C19"/>
                </a:solidFill>
                <a:latin typeface="Inter"/>
              </a:rPr>
              <a:t>Next.js 16 · Prisma 7 · PostgreSQL</a:t>
            </a:r>
          </a:p>
        </p:txBody>
      </p:sp>
      <p:sp>
        <p:nvSpPr>
          <p:cNvPr id="21" name="TextBox 20"/>
          <p:cNvSpPr txBox="1"/>
          <p:nvPr/>
        </p:nvSpPr>
        <p:spPr>
          <a:xfrm>
            <a:off x="4526280" y="4709160"/>
            <a:ext cx="3566160" cy="365760"/>
          </a:xfrm>
          <a:prstGeom prst="rect">
            <a:avLst/>
          </a:prstGeom>
          <a:noFill/>
        </p:spPr>
        <p:txBody>
          <a:bodyPr wrap="square" anchor="t" lIns="0" rIns="0" tIns="0" bIns="0">
            <a:spAutoFit/>
          </a:bodyPr>
          <a:lstStyle/>
          <a:p>
            <a:pPr algn="l">
              <a:lnSpc>
                <a:spcPct val="105000"/>
              </a:lnSpc>
              <a:spcBef>
                <a:spcPts val="0"/>
              </a:spcBef>
              <a:spcAft>
                <a:spcPts val="0"/>
              </a:spcAft>
            </a:pPr>
            <a:r>
              <a:rPr sz="1200" b="1" i="0">
                <a:solidFill>
                  <a:srgbClr val="35D07F"/>
                </a:solidFill>
                <a:latin typeface="Inter"/>
              </a:rPr>
              <a:t>✓  </a:t>
            </a:r>
            <a:r>
              <a:rPr sz="1200" b="0" i="0">
                <a:solidFill>
                  <a:srgbClr val="1A1C19"/>
                </a:solidFill>
                <a:latin typeface="Inter"/>
              </a:rPr>
              <a:t>@stellar/stellar-sdk · Freighter wallet</a:t>
            </a:r>
          </a:p>
        </p:txBody>
      </p:sp>
      <p:sp>
        <p:nvSpPr>
          <p:cNvPr id="22" name="TextBox 21"/>
          <p:cNvSpPr txBox="1"/>
          <p:nvPr/>
        </p:nvSpPr>
        <p:spPr>
          <a:xfrm>
            <a:off x="8138160" y="4709160"/>
            <a:ext cx="3566160" cy="365760"/>
          </a:xfrm>
          <a:prstGeom prst="rect">
            <a:avLst/>
          </a:prstGeom>
          <a:noFill/>
        </p:spPr>
        <p:txBody>
          <a:bodyPr wrap="square" anchor="t" lIns="0" rIns="0" tIns="0" bIns="0">
            <a:spAutoFit/>
          </a:bodyPr>
          <a:lstStyle/>
          <a:p>
            <a:pPr algn="l">
              <a:lnSpc>
                <a:spcPct val="105000"/>
              </a:lnSpc>
              <a:spcBef>
                <a:spcPts val="0"/>
              </a:spcBef>
              <a:spcAft>
                <a:spcPts val="0"/>
              </a:spcAft>
            </a:pPr>
            <a:r>
              <a:rPr sz="1200" b="1" i="0">
                <a:solidFill>
                  <a:srgbClr val="35D07F"/>
                </a:solidFill>
                <a:latin typeface="Inter"/>
              </a:rPr>
              <a:t>✓  </a:t>
            </a:r>
            <a:r>
              <a:rPr sz="1200" b="0" i="0">
                <a:solidFill>
                  <a:srgbClr val="1A1C19"/>
                </a:solidFill>
                <a:latin typeface="Inter"/>
              </a:rPr>
              <a:t>Accumulate-then-withdraw ledger</a:t>
            </a:r>
          </a:p>
        </p:txBody>
      </p:sp>
      <p:sp>
        <p:nvSpPr>
          <p:cNvPr id="23" name="TextBox 22"/>
          <p:cNvSpPr txBox="1"/>
          <p:nvPr/>
        </p:nvSpPr>
        <p:spPr>
          <a:xfrm>
            <a:off x="914400" y="5166360"/>
            <a:ext cx="3566160" cy="365760"/>
          </a:xfrm>
          <a:prstGeom prst="rect">
            <a:avLst/>
          </a:prstGeom>
          <a:noFill/>
        </p:spPr>
        <p:txBody>
          <a:bodyPr wrap="square" anchor="t" lIns="0" rIns="0" tIns="0" bIns="0">
            <a:spAutoFit/>
          </a:bodyPr>
          <a:lstStyle/>
          <a:p>
            <a:pPr algn="l">
              <a:lnSpc>
                <a:spcPct val="105000"/>
              </a:lnSpc>
              <a:spcBef>
                <a:spcPts val="0"/>
              </a:spcBef>
              <a:spcAft>
                <a:spcPts val="0"/>
              </a:spcAft>
            </a:pPr>
            <a:r>
              <a:rPr sz="1200" b="1" i="0">
                <a:solidFill>
                  <a:srgbClr val="35D07F"/>
                </a:solidFill>
                <a:latin typeface="Inter"/>
              </a:rPr>
              <a:t>✓  </a:t>
            </a:r>
            <a:r>
              <a:rPr sz="1200" b="0" i="0">
                <a:solidFill>
                  <a:srgbClr val="1A1C19"/>
                </a:solidFill>
                <a:latin typeface="Inter"/>
              </a:rPr>
              <a:t>Background payout worker + reconciler</a:t>
            </a:r>
          </a:p>
        </p:txBody>
      </p:sp>
      <p:sp>
        <p:nvSpPr>
          <p:cNvPr id="24" name="TextBox 23"/>
          <p:cNvSpPr txBox="1"/>
          <p:nvPr/>
        </p:nvSpPr>
        <p:spPr>
          <a:xfrm>
            <a:off x="4526280" y="5166360"/>
            <a:ext cx="3566160" cy="365760"/>
          </a:xfrm>
          <a:prstGeom prst="rect">
            <a:avLst/>
          </a:prstGeom>
          <a:noFill/>
        </p:spPr>
        <p:txBody>
          <a:bodyPr wrap="square" anchor="t" lIns="0" rIns="0" tIns="0" bIns="0">
            <a:spAutoFit/>
          </a:bodyPr>
          <a:lstStyle/>
          <a:p>
            <a:pPr algn="l">
              <a:lnSpc>
                <a:spcPct val="105000"/>
              </a:lnSpc>
              <a:spcBef>
                <a:spcPts val="0"/>
              </a:spcBef>
              <a:spcAft>
                <a:spcPts val="0"/>
              </a:spcAft>
            </a:pPr>
            <a:r>
              <a:rPr sz="1200" b="1" i="0">
                <a:solidFill>
                  <a:srgbClr val="35D07F"/>
                </a:solidFill>
                <a:latin typeface="Inter"/>
              </a:rPr>
              <a:t>✓  </a:t>
            </a:r>
            <a:r>
              <a:rPr sz="1200" b="0" i="0">
                <a:solidFill>
                  <a:srgbClr val="1A1C19"/>
                </a:solidFill>
                <a:latin typeface="Inter"/>
              </a:rPr>
              <a:t>Gold tasks · IAA · anti-fraud gates</a:t>
            </a:r>
          </a:p>
        </p:txBody>
      </p:sp>
      <p:sp>
        <p:nvSpPr>
          <p:cNvPr id="25" name="TextBox 24"/>
          <p:cNvSpPr txBox="1"/>
          <p:nvPr/>
        </p:nvSpPr>
        <p:spPr>
          <a:xfrm>
            <a:off x="8138160" y="5166360"/>
            <a:ext cx="3566160" cy="365760"/>
          </a:xfrm>
          <a:prstGeom prst="rect">
            <a:avLst/>
          </a:prstGeom>
          <a:noFill/>
        </p:spPr>
        <p:txBody>
          <a:bodyPr wrap="square" anchor="t" lIns="0" rIns="0" tIns="0" bIns="0">
            <a:spAutoFit/>
          </a:bodyPr>
          <a:lstStyle/>
          <a:p>
            <a:pPr algn="l">
              <a:lnSpc>
                <a:spcPct val="105000"/>
              </a:lnSpc>
              <a:spcBef>
                <a:spcPts val="0"/>
              </a:spcBef>
              <a:spcAft>
                <a:spcPts val="0"/>
              </a:spcAft>
            </a:pPr>
            <a:r>
              <a:rPr sz="1200" b="1" i="0">
                <a:solidFill>
                  <a:srgbClr val="35D07F"/>
                </a:solidFill>
                <a:latin typeface="Inter"/>
              </a:rPr>
              <a:t>✓  </a:t>
            </a:r>
            <a:r>
              <a:rPr sz="1200" b="0" i="0">
                <a:solidFill>
                  <a:srgbClr val="1A1C19"/>
                </a:solidFill>
                <a:latin typeface="Inter"/>
              </a:rPr>
              <a:t>Sentry · PostHog · Resend · audit log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66928"/>
            <a:ext cx="384048" cy="82296"/>
          </a:xfrm>
          <a:prstGeom prst="rect">
            <a:avLst/>
          </a:prstGeom>
          <a:solidFill>
            <a:srgbClr val="006D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457200"/>
            <a:ext cx="8229600" cy="320040"/>
          </a:xfrm>
          <a:prstGeom prst="rect">
            <a:avLst/>
          </a:prstGeom>
          <a:noFill/>
        </p:spPr>
        <p:txBody>
          <a:bodyPr wrap="square" anchor="t" lIns="0" rIns="0" tIns="0" bIns="0">
            <a:spAutoFit/>
          </a:bodyPr>
          <a:lstStyle/>
          <a:p>
            <a:pPr algn="l">
              <a:lnSpc>
                <a:spcPct val="105000"/>
              </a:lnSpc>
              <a:spcBef>
                <a:spcPts val="0"/>
              </a:spcBef>
              <a:spcAft>
                <a:spcPts val="0"/>
              </a:spcAft>
            </a:pPr>
            <a:r>
              <a:rPr sz="1300" b="1" i="0">
                <a:solidFill>
                  <a:srgbClr val="006D3D"/>
                </a:solidFill>
                <a:latin typeface="Inter"/>
              </a:rPr>
              <a:t>IMPACT ON THE STELLAR ECOSYSTEM</a:t>
            </a:r>
          </a:p>
        </p:txBody>
      </p:sp>
      <p:sp>
        <p:nvSpPr>
          <p:cNvPr id="5" name="TextBox 4"/>
          <p:cNvSpPr txBox="1"/>
          <p:nvPr/>
        </p:nvSpPr>
        <p:spPr>
          <a:xfrm>
            <a:off x="640080" y="6455664"/>
            <a:ext cx="3657600" cy="274320"/>
          </a:xfrm>
          <a:prstGeom prst="rect">
            <a:avLst/>
          </a:prstGeom>
          <a:noFill/>
        </p:spPr>
        <p:txBody>
          <a:bodyPr wrap="square" anchor="t" lIns="0" rIns="0" tIns="0" bIns="0">
            <a:spAutoFit/>
          </a:bodyPr>
          <a:lstStyle/>
          <a:p>
            <a:pPr algn="l">
              <a:lnSpc>
                <a:spcPct val="105000"/>
              </a:lnSpc>
              <a:spcBef>
                <a:spcPts val="0"/>
              </a:spcBef>
              <a:spcAft>
                <a:spcPts val="0"/>
              </a:spcAft>
            </a:pPr>
            <a:r>
              <a:rPr sz="900" b="1" i="0">
                <a:solidFill>
                  <a:srgbClr val="006D3D"/>
                </a:solidFill>
                <a:latin typeface="Manrope"/>
              </a:rPr>
              <a:t>Centient</a:t>
            </a:r>
            <a:r>
              <a:rPr sz="900" b="0" i="0">
                <a:solidFill>
                  <a:srgbClr val="444A46"/>
                </a:solidFill>
                <a:latin typeface="Inter"/>
              </a:rPr>
              <a:t>  ·  Train AI, cent by cent.</a:t>
            </a:r>
          </a:p>
        </p:txBody>
      </p:sp>
      <p:sp>
        <p:nvSpPr>
          <p:cNvPr id="6" name="TextBox 5"/>
          <p:cNvSpPr txBox="1"/>
          <p:nvPr/>
        </p:nvSpPr>
        <p:spPr>
          <a:xfrm>
            <a:off x="10424160" y="6455664"/>
            <a:ext cx="1097280" cy="274320"/>
          </a:xfrm>
          <a:prstGeom prst="rect">
            <a:avLst/>
          </a:prstGeom>
          <a:noFill/>
        </p:spPr>
        <p:txBody>
          <a:bodyPr wrap="square" anchor="t" lIns="0" rIns="0" tIns="0" bIns="0">
            <a:spAutoFit/>
          </a:bodyPr>
          <a:lstStyle/>
          <a:p>
            <a:pPr algn="r">
              <a:lnSpc>
                <a:spcPct val="105000"/>
              </a:lnSpc>
              <a:spcBef>
                <a:spcPts val="0"/>
              </a:spcBef>
              <a:spcAft>
                <a:spcPts val="0"/>
              </a:spcAft>
            </a:pPr>
            <a:r>
              <a:rPr sz="900" b="1" i="0">
                <a:solidFill>
                  <a:srgbClr val="444A46"/>
                </a:solidFill>
                <a:latin typeface="Inter"/>
              </a:rPr>
              <a:t>06</a:t>
            </a:r>
          </a:p>
        </p:txBody>
      </p:sp>
      <p:sp>
        <p:nvSpPr>
          <p:cNvPr id="7" name="TextBox 6"/>
          <p:cNvSpPr txBox="1"/>
          <p:nvPr/>
        </p:nvSpPr>
        <p:spPr>
          <a:xfrm>
            <a:off x="640080" y="841248"/>
            <a:ext cx="10881360" cy="914400"/>
          </a:xfrm>
          <a:prstGeom prst="rect">
            <a:avLst/>
          </a:prstGeom>
          <a:noFill/>
        </p:spPr>
        <p:txBody>
          <a:bodyPr wrap="square" anchor="t" lIns="0" rIns="0" tIns="0" bIns="0">
            <a:spAutoFit/>
          </a:bodyPr>
          <a:lstStyle/>
          <a:p>
            <a:pPr algn="l">
              <a:lnSpc>
                <a:spcPct val="100000"/>
              </a:lnSpc>
              <a:spcBef>
                <a:spcPts val="0"/>
              </a:spcBef>
              <a:spcAft>
                <a:spcPts val="0"/>
              </a:spcAft>
            </a:pPr>
            <a:r>
              <a:rPr sz="3000" b="1" i="0">
                <a:solidFill>
                  <a:srgbClr val="1A1C19"/>
                </a:solidFill>
                <a:latin typeface="Manrope"/>
              </a:rPr>
              <a:t>A real, non-speculative payment flow — routed onto Stellar</a:t>
            </a:r>
          </a:p>
        </p:txBody>
      </p:sp>
      <p:sp>
        <p:nvSpPr>
          <p:cNvPr id="8" name="Rounded Rectangle 7"/>
          <p:cNvSpPr/>
          <p:nvPr/>
        </p:nvSpPr>
        <p:spPr>
          <a:xfrm>
            <a:off x="640080" y="1691640"/>
            <a:ext cx="2651760" cy="1463040"/>
          </a:xfrm>
          <a:prstGeom prst="roundRect">
            <a:avLst>
              <a:gd name="adj" fmla="val 6000"/>
            </a:avLst>
          </a:prstGeom>
          <a:solidFill>
            <a:srgbClr val="FFFFFF"/>
          </a:solidFill>
          <a:ln w="12700">
            <a:solidFill>
              <a:srgbClr val="D7DD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874519"/>
            <a:ext cx="2651760" cy="685800"/>
          </a:xfrm>
          <a:prstGeom prst="rect">
            <a:avLst/>
          </a:prstGeom>
          <a:noFill/>
        </p:spPr>
        <p:txBody>
          <a:bodyPr wrap="square" anchor="t" lIns="0" rIns="0" tIns="0" bIns="0">
            <a:spAutoFit/>
          </a:bodyPr>
          <a:lstStyle/>
          <a:p>
            <a:pPr algn="ctr">
              <a:lnSpc>
                <a:spcPct val="95000"/>
              </a:lnSpc>
              <a:spcBef>
                <a:spcPts val="0"/>
              </a:spcBef>
              <a:spcAft>
                <a:spcPts val="0"/>
              </a:spcAft>
            </a:pPr>
            <a:r>
              <a:rPr sz="2400" b="1" i="0">
                <a:solidFill>
                  <a:srgbClr val="006D3D"/>
                </a:solidFill>
                <a:latin typeface="Manrope"/>
              </a:rPr>
              <a:t>USDC</a:t>
            </a:r>
          </a:p>
        </p:txBody>
      </p:sp>
      <p:sp>
        <p:nvSpPr>
          <p:cNvPr id="10" name="TextBox 9"/>
          <p:cNvSpPr txBox="1"/>
          <p:nvPr/>
        </p:nvSpPr>
        <p:spPr>
          <a:xfrm>
            <a:off x="777240" y="2578608"/>
            <a:ext cx="2377440" cy="548640"/>
          </a:xfrm>
          <a:prstGeom prst="rect">
            <a:avLst/>
          </a:prstGeom>
          <a:noFill/>
        </p:spPr>
        <p:txBody>
          <a:bodyPr wrap="square" anchor="t" lIns="0" rIns="0" tIns="0" bIns="0">
            <a:spAutoFit/>
          </a:bodyPr>
          <a:lstStyle/>
          <a:p>
            <a:pPr algn="ctr">
              <a:lnSpc>
                <a:spcPct val="100000"/>
              </a:lnSpc>
              <a:spcBef>
                <a:spcPts val="0"/>
              </a:spcBef>
              <a:spcAft>
                <a:spcPts val="0"/>
              </a:spcAft>
            </a:pPr>
            <a:r>
              <a:rPr sz="1050" b="0" i="0">
                <a:solidFill>
                  <a:srgbClr val="444A46"/>
                </a:solidFill>
                <a:latin typeface="Inter"/>
              </a:rPr>
              <a:t>velocity: thousands of
real micro-payments</a:t>
            </a:r>
          </a:p>
        </p:txBody>
      </p:sp>
      <p:sp>
        <p:nvSpPr>
          <p:cNvPr id="11" name="Rounded Rectangle 10"/>
          <p:cNvSpPr/>
          <p:nvPr/>
        </p:nvSpPr>
        <p:spPr>
          <a:xfrm>
            <a:off x="3410712" y="1691640"/>
            <a:ext cx="2651760" cy="1463040"/>
          </a:xfrm>
          <a:prstGeom prst="roundRect">
            <a:avLst>
              <a:gd name="adj" fmla="val 6000"/>
            </a:avLst>
          </a:prstGeom>
          <a:solidFill>
            <a:srgbClr val="FFFFFF"/>
          </a:solidFill>
          <a:ln w="12700">
            <a:solidFill>
              <a:srgbClr val="D7DD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10712" y="1874519"/>
            <a:ext cx="2651760" cy="685800"/>
          </a:xfrm>
          <a:prstGeom prst="rect">
            <a:avLst/>
          </a:prstGeom>
          <a:noFill/>
        </p:spPr>
        <p:txBody>
          <a:bodyPr wrap="square" anchor="t" lIns="0" rIns="0" tIns="0" bIns="0">
            <a:spAutoFit/>
          </a:bodyPr>
          <a:lstStyle/>
          <a:p>
            <a:pPr algn="ctr">
              <a:lnSpc>
                <a:spcPct val="95000"/>
              </a:lnSpc>
              <a:spcBef>
                <a:spcPts val="0"/>
              </a:spcBef>
              <a:spcAft>
                <a:spcPts val="0"/>
              </a:spcAft>
            </a:pPr>
            <a:r>
              <a:rPr sz="2400" b="1" i="0">
                <a:solidFill>
                  <a:srgbClr val="006D3D"/>
                </a:solidFill>
                <a:latin typeface="Manrope"/>
              </a:rPr>
              <a:t>New
wallets</a:t>
            </a:r>
          </a:p>
        </p:txBody>
      </p:sp>
      <p:sp>
        <p:nvSpPr>
          <p:cNvPr id="13" name="TextBox 12"/>
          <p:cNvSpPr txBox="1"/>
          <p:nvPr/>
        </p:nvSpPr>
        <p:spPr>
          <a:xfrm>
            <a:off x="3547872" y="2578608"/>
            <a:ext cx="2377440" cy="548640"/>
          </a:xfrm>
          <a:prstGeom prst="rect">
            <a:avLst/>
          </a:prstGeom>
          <a:noFill/>
        </p:spPr>
        <p:txBody>
          <a:bodyPr wrap="square" anchor="t" lIns="0" rIns="0" tIns="0" bIns="0">
            <a:spAutoFit/>
          </a:bodyPr>
          <a:lstStyle/>
          <a:p>
            <a:pPr algn="ctr">
              <a:lnSpc>
                <a:spcPct val="100000"/>
              </a:lnSpc>
              <a:spcBef>
                <a:spcPts val="0"/>
              </a:spcBef>
              <a:spcAft>
                <a:spcPts val="0"/>
              </a:spcAft>
            </a:pPr>
            <a:r>
              <a:rPr sz="1050" b="0" i="0">
                <a:solidFill>
                  <a:srgbClr val="444A46"/>
                </a:solidFill>
                <a:latin typeface="Inter"/>
              </a:rPr>
              <a:t>activated in under-
banked markets</a:t>
            </a:r>
          </a:p>
        </p:txBody>
      </p:sp>
      <p:sp>
        <p:nvSpPr>
          <p:cNvPr id="14" name="Rounded Rectangle 13"/>
          <p:cNvSpPr/>
          <p:nvPr/>
        </p:nvSpPr>
        <p:spPr>
          <a:xfrm>
            <a:off x="6181344" y="1691640"/>
            <a:ext cx="2651760" cy="1463040"/>
          </a:xfrm>
          <a:prstGeom prst="roundRect">
            <a:avLst>
              <a:gd name="adj" fmla="val 6000"/>
            </a:avLst>
          </a:prstGeom>
          <a:solidFill>
            <a:srgbClr val="FFFFFF"/>
          </a:solidFill>
          <a:ln w="12700">
            <a:solidFill>
              <a:srgbClr val="D7DD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81344" y="1874519"/>
            <a:ext cx="2651760" cy="685800"/>
          </a:xfrm>
          <a:prstGeom prst="rect">
            <a:avLst/>
          </a:prstGeom>
          <a:noFill/>
        </p:spPr>
        <p:txBody>
          <a:bodyPr wrap="square" anchor="t" lIns="0" rIns="0" tIns="0" bIns="0">
            <a:spAutoFit/>
          </a:bodyPr>
          <a:lstStyle/>
          <a:p>
            <a:pPr algn="ctr">
              <a:lnSpc>
                <a:spcPct val="95000"/>
              </a:lnSpc>
              <a:spcBef>
                <a:spcPts val="0"/>
              </a:spcBef>
              <a:spcAft>
                <a:spcPts val="0"/>
              </a:spcAft>
            </a:pPr>
            <a:r>
              <a:rPr sz="2400" b="1" i="0">
                <a:solidFill>
                  <a:srgbClr val="006D3D"/>
                </a:solidFill>
                <a:latin typeface="Manrope"/>
              </a:rPr>
              <a:t>Anchor</a:t>
            </a:r>
          </a:p>
        </p:txBody>
      </p:sp>
      <p:sp>
        <p:nvSpPr>
          <p:cNvPr id="16" name="TextBox 15"/>
          <p:cNvSpPr txBox="1"/>
          <p:nvPr/>
        </p:nvSpPr>
        <p:spPr>
          <a:xfrm>
            <a:off x="6318504" y="2578608"/>
            <a:ext cx="2377440" cy="548640"/>
          </a:xfrm>
          <a:prstGeom prst="rect">
            <a:avLst/>
          </a:prstGeom>
          <a:noFill/>
        </p:spPr>
        <p:txBody>
          <a:bodyPr wrap="square" anchor="t" lIns="0" rIns="0" tIns="0" bIns="0">
            <a:spAutoFit/>
          </a:bodyPr>
          <a:lstStyle/>
          <a:p>
            <a:pPr algn="ctr">
              <a:lnSpc>
                <a:spcPct val="100000"/>
              </a:lnSpc>
              <a:spcBef>
                <a:spcPts val="0"/>
              </a:spcBef>
              <a:spcAft>
                <a:spcPts val="0"/>
              </a:spcAft>
            </a:pPr>
            <a:r>
              <a:rPr sz="1050" b="0" i="0">
                <a:solidFill>
                  <a:srgbClr val="444A46"/>
                </a:solidFill>
                <a:latin typeface="Inter"/>
              </a:rPr>
              <a:t>off-ramp volume as
USDC → local cash</a:t>
            </a:r>
          </a:p>
        </p:txBody>
      </p:sp>
      <p:sp>
        <p:nvSpPr>
          <p:cNvPr id="17" name="Rounded Rectangle 16"/>
          <p:cNvSpPr/>
          <p:nvPr/>
        </p:nvSpPr>
        <p:spPr>
          <a:xfrm>
            <a:off x="8951976" y="1691640"/>
            <a:ext cx="2651760" cy="1463040"/>
          </a:xfrm>
          <a:prstGeom prst="roundRect">
            <a:avLst>
              <a:gd name="adj" fmla="val 6000"/>
            </a:avLst>
          </a:prstGeom>
          <a:solidFill>
            <a:srgbClr val="FFFFFF"/>
          </a:solidFill>
          <a:ln w="12700">
            <a:solidFill>
              <a:srgbClr val="D7DD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951976" y="1874519"/>
            <a:ext cx="2651760" cy="685800"/>
          </a:xfrm>
          <a:prstGeom prst="rect">
            <a:avLst/>
          </a:prstGeom>
          <a:noFill/>
        </p:spPr>
        <p:txBody>
          <a:bodyPr wrap="square" anchor="t" lIns="0" rIns="0" tIns="0" bIns="0">
            <a:spAutoFit/>
          </a:bodyPr>
          <a:lstStyle/>
          <a:p>
            <a:pPr algn="ctr">
              <a:lnSpc>
                <a:spcPct val="95000"/>
              </a:lnSpc>
              <a:spcBef>
                <a:spcPts val="0"/>
              </a:spcBef>
              <a:spcAft>
                <a:spcPts val="0"/>
              </a:spcAft>
            </a:pPr>
            <a:r>
              <a:rPr sz="2400" b="1" i="0">
                <a:solidFill>
                  <a:srgbClr val="006D3D"/>
                </a:solidFill>
                <a:latin typeface="Manrope"/>
              </a:rPr>
              <a:t>0-XLM</a:t>
            </a:r>
          </a:p>
        </p:txBody>
      </p:sp>
      <p:sp>
        <p:nvSpPr>
          <p:cNvPr id="19" name="TextBox 18"/>
          <p:cNvSpPr txBox="1"/>
          <p:nvPr/>
        </p:nvSpPr>
        <p:spPr>
          <a:xfrm>
            <a:off x="9089136" y="2578608"/>
            <a:ext cx="2377440" cy="548640"/>
          </a:xfrm>
          <a:prstGeom prst="rect">
            <a:avLst/>
          </a:prstGeom>
          <a:noFill/>
        </p:spPr>
        <p:txBody>
          <a:bodyPr wrap="square" anchor="t" lIns="0" rIns="0" tIns="0" bIns="0">
            <a:spAutoFit/>
          </a:bodyPr>
          <a:lstStyle/>
          <a:p>
            <a:pPr algn="ctr">
              <a:lnSpc>
                <a:spcPct val="100000"/>
              </a:lnSpc>
              <a:spcBef>
                <a:spcPts val="0"/>
              </a:spcBef>
              <a:spcAft>
                <a:spcPts val="0"/>
              </a:spcAft>
            </a:pPr>
            <a:r>
              <a:rPr sz="1050" b="0" i="0">
                <a:solidFill>
                  <a:srgbClr val="444A46"/>
                </a:solidFill>
                <a:latin typeface="Inter"/>
              </a:rPr>
              <a:t>onboarding via sponsored
reserves + fee-bump</a:t>
            </a:r>
          </a:p>
        </p:txBody>
      </p:sp>
      <p:sp>
        <p:nvSpPr>
          <p:cNvPr id="20" name="Rounded Rectangle 19"/>
          <p:cNvSpPr/>
          <p:nvPr/>
        </p:nvSpPr>
        <p:spPr>
          <a:xfrm>
            <a:off x="640080" y="3429000"/>
            <a:ext cx="10908792" cy="2377440"/>
          </a:xfrm>
          <a:prstGeom prst="roundRect">
            <a:avLst>
              <a:gd name="adj" fmla="val 6000"/>
            </a:avLst>
          </a:prstGeom>
          <a:solidFill>
            <a:srgbClr val="E7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3639312"/>
            <a:ext cx="10332720" cy="457200"/>
          </a:xfrm>
          <a:prstGeom prst="rect">
            <a:avLst/>
          </a:prstGeom>
          <a:noFill/>
        </p:spPr>
        <p:txBody>
          <a:bodyPr wrap="square" anchor="t" lIns="0" rIns="0" tIns="0" bIns="0">
            <a:spAutoFit/>
          </a:bodyPr>
          <a:lstStyle/>
          <a:p>
            <a:pPr algn="l">
              <a:lnSpc>
                <a:spcPct val="105000"/>
              </a:lnSpc>
              <a:spcBef>
                <a:spcPts val="0"/>
              </a:spcBef>
              <a:spcAft>
                <a:spcPts val="0"/>
              </a:spcAft>
            </a:pPr>
            <a:r>
              <a:rPr sz="1500" b="1" i="0">
                <a:solidFill>
                  <a:srgbClr val="00542D"/>
                </a:solidFill>
                <a:latin typeface="Manrope"/>
              </a:rPr>
              <a:t>Why the Stellar Development Foundation should care</a:t>
            </a:r>
          </a:p>
        </p:txBody>
      </p:sp>
      <p:sp>
        <p:nvSpPr>
          <p:cNvPr id="22" name="TextBox 21"/>
          <p:cNvSpPr txBox="1"/>
          <p:nvPr/>
        </p:nvSpPr>
        <p:spPr>
          <a:xfrm>
            <a:off x="914400" y="4114800"/>
            <a:ext cx="5120640" cy="822960"/>
          </a:xfrm>
          <a:prstGeom prst="rect">
            <a:avLst/>
          </a:prstGeom>
          <a:noFill/>
        </p:spPr>
        <p:txBody>
          <a:bodyPr wrap="square" anchor="t" lIns="0" rIns="0" tIns="0" bIns="0">
            <a:spAutoFit/>
          </a:bodyPr>
          <a:lstStyle/>
          <a:p>
            <a:pPr algn="l">
              <a:lnSpc>
                <a:spcPct val="106000"/>
              </a:lnSpc>
              <a:spcBef>
                <a:spcPts val="0"/>
              </a:spcBef>
              <a:spcAft>
                <a:spcPts val="0"/>
              </a:spcAft>
            </a:pPr>
            <a:r>
              <a:rPr sz="1200" b="1" i="0">
                <a:solidFill>
                  <a:srgbClr val="006D3D"/>
                </a:solidFill>
                <a:latin typeface="Inter"/>
              </a:rPr>
              <a:t>● </a:t>
            </a:r>
            <a:r>
              <a:rPr sz="1250" b="1" i="0">
                <a:solidFill>
                  <a:srgbClr val="1A1C19"/>
                </a:solidFill>
                <a:latin typeface="Inter"/>
              </a:rPr>
              <a:t>Financial inclusion, demonstrated.</a:t>
            </a:r>
            <a:r>
              <a:rPr sz="1250" b="0" i="0">
                <a:solidFill>
                  <a:srgbClr val="444A46"/>
                </a:solidFill>
                <a:latin typeface="Inter"/>
              </a:rPr>
              <a:t> Each labeler is a net-new activated Stellar wallet earning dollars in an emerging market — exactly SDF's mission metric.</a:t>
            </a:r>
          </a:p>
        </p:txBody>
      </p:sp>
      <p:sp>
        <p:nvSpPr>
          <p:cNvPr id="23" name="TextBox 22"/>
          <p:cNvSpPr txBox="1"/>
          <p:nvPr/>
        </p:nvSpPr>
        <p:spPr>
          <a:xfrm>
            <a:off x="6309360" y="4114800"/>
            <a:ext cx="5120640" cy="822960"/>
          </a:xfrm>
          <a:prstGeom prst="rect">
            <a:avLst/>
          </a:prstGeom>
          <a:noFill/>
        </p:spPr>
        <p:txBody>
          <a:bodyPr wrap="square" anchor="t" lIns="0" rIns="0" tIns="0" bIns="0">
            <a:spAutoFit/>
          </a:bodyPr>
          <a:lstStyle/>
          <a:p>
            <a:pPr algn="l">
              <a:lnSpc>
                <a:spcPct val="106000"/>
              </a:lnSpc>
              <a:spcBef>
                <a:spcPts val="0"/>
              </a:spcBef>
              <a:spcAft>
                <a:spcPts val="0"/>
              </a:spcAft>
            </a:pPr>
            <a:r>
              <a:rPr sz="1200" b="1" i="0">
                <a:solidFill>
                  <a:srgbClr val="006D3D"/>
                </a:solidFill>
                <a:latin typeface="Inter"/>
              </a:rPr>
              <a:t>● </a:t>
            </a:r>
            <a:r>
              <a:rPr sz="1250" b="1" i="0">
                <a:solidFill>
                  <a:srgbClr val="1A1C19"/>
                </a:solidFill>
                <a:latin typeface="Inter"/>
              </a:rPr>
              <a:t>Stablecoin utility, not speculation.</a:t>
            </a:r>
            <a:r>
              <a:rPr sz="1250" b="0" i="0">
                <a:solidFill>
                  <a:srgbClr val="444A46"/>
                </a:solidFill>
                <a:latin typeface="Inter"/>
              </a:rPr>
              <a:t> High-frequency, real-world USDC payments for work done — the original Stellar thesis (cheap, fast, borderless value for people, not traders).</a:t>
            </a:r>
          </a:p>
        </p:txBody>
      </p:sp>
      <p:sp>
        <p:nvSpPr>
          <p:cNvPr id="24" name="TextBox 23"/>
          <p:cNvSpPr txBox="1"/>
          <p:nvPr/>
        </p:nvSpPr>
        <p:spPr>
          <a:xfrm>
            <a:off x="914400" y="4956048"/>
            <a:ext cx="5120640" cy="822960"/>
          </a:xfrm>
          <a:prstGeom prst="rect">
            <a:avLst/>
          </a:prstGeom>
          <a:noFill/>
        </p:spPr>
        <p:txBody>
          <a:bodyPr wrap="square" anchor="t" lIns="0" rIns="0" tIns="0" bIns="0">
            <a:spAutoFit/>
          </a:bodyPr>
          <a:lstStyle/>
          <a:p>
            <a:pPr algn="l">
              <a:lnSpc>
                <a:spcPct val="106000"/>
              </a:lnSpc>
              <a:spcBef>
                <a:spcPts val="0"/>
              </a:spcBef>
              <a:spcAft>
                <a:spcPts val="0"/>
              </a:spcAft>
            </a:pPr>
            <a:r>
              <a:rPr sz="1200" b="1" i="0">
                <a:solidFill>
                  <a:srgbClr val="006D3D"/>
                </a:solidFill>
                <a:latin typeface="Inter"/>
              </a:rPr>
              <a:t>● </a:t>
            </a:r>
            <a:r>
              <a:rPr sz="1250" b="1" i="0">
                <a:solidFill>
                  <a:srgbClr val="1A1C19"/>
                </a:solidFill>
                <a:latin typeface="Inter"/>
              </a:rPr>
              <a:t>Cash-out demand for anchors.</a:t>
            </a:r>
            <a:r>
              <a:rPr sz="1250" b="0" i="0">
                <a:solidFill>
                  <a:srgbClr val="444A46"/>
                </a:solidFill>
                <a:latin typeface="Inter"/>
              </a:rPr>
              <a:t> Every withdrawal that converts to PHP/NGN/local cash drives volume through MoneyGram and regional anchors.</a:t>
            </a:r>
          </a:p>
        </p:txBody>
      </p:sp>
      <p:sp>
        <p:nvSpPr>
          <p:cNvPr id="25" name="TextBox 24"/>
          <p:cNvSpPr txBox="1"/>
          <p:nvPr/>
        </p:nvSpPr>
        <p:spPr>
          <a:xfrm>
            <a:off x="6309360" y="4956048"/>
            <a:ext cx="5120640" cy="822960"/>
          </a:xfrm>
          <a:prstGeom prst="rect">
            <a:avLst/>
          </a:prstGeom>
          <a:noFill/>
        </p:spPr>
        <p:txBody>
          <a:bodyPr wrap="square" anchor="t" lIns="0" rIns="0" tIns="0" bIns="0">
            <a:spAutoFit/>
          </a:bodyPr>
          <a:lstStyle/>
          <a:p>
            <a:pPr algn="l">
              <a:lnSpc>
                <a:spcPct val="106000"/>
              </a:lnSpc>
              <a:spcBef>
                <a:spcPts val="0"/>
              </a:spcBef>
              <a:spcAft>
                <a:spcPts val="0"/>
              </a:spcAft>
            </a:pPr>
            <a:r>
              <a:rPr sz="1200" b="1" i="0">
                <a:solidFill>
                  <a:srgbClr val="006D3D"/>
                </a:solidFill>
                <a:latin typeface="Inter"/>
              </a:rPr>
              <a:t>● </a:t>
            </a:r>
            <a:r>
              <a:rPr sz="1250" b="1" i="0">
                <a:solidFill>
                  <a:srgbClr val="1A1C19"/>
                </a:solidFill>
                <a:latin typeface="Inter"/>
              </a:rPr>
              <a:t>A lighthouse use case for the AI economy.</a:t>
            </a:r>
            <a:r>
              <a:rPr sz="1250" b="0" i="0">
                <a:solidFill>
                  <a:srgbClr val="444A46"/>
                </a:solidFill>
                <a:latin typeface="Inter"/>
              </a:rPr>
              <a:t> Puts Stellar at the intersection of AI + payments — a fundable, quotable, PR-ready inclusion story.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66928"/>
            <a:ext cx="384048" cy="82296"/>
          </a:xfrm>
          <a:prstGeom prst="rect">
            <a:avLst/>
          </a:prstGeom>
          <a:solidFill>
            <a:srgbClr val="785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457200"/>
            <a:ext cx="8229600" cy="320040"/>
          </a:xfrm>
          <a:prstGeom prst="rect">
            <a:avLst/>
          </a:prstGeom>
          <a:noFill/>
        </p:spPr>
        <p:txBody>
          <a:bodyPr wrap="square" anchor="t" lIns="0" rIns="0" tIns="0" bIns="0">
            <a:spAutoFit/>
          </a:bodyPr>
          <a:lstStyle/>
          <a:p>
            <a:pPr algn="l">
              <a:lnSpc>
                <a:spcPct val="105000"/>
              </a:lnSpc>
              <a:spcBef>
                <a:spcPts val="0"/>
              </a:spcBef>
              <a:spcAft>
                <a:spcPts val="0"/>
              </a:spcAft>
            </a:pPr>
            <a:r>
              <a:rPr sz="1300" b="1" i="0">
                <a:solidFill>
                  <a:srgbClr val="785A00"/>
                </a:solidFill>
                <a:latin typeface="Inter"/>
              </a:rPr>
              <a:t>INTEGRATING THE STELLAR ECOSYSTEM</a:t>
            </a:r>
          </a:p>
        </p:txBody>
      </p:sp>
      <p:sp>
        <p:nvSpPr>
          <p:cNvPr id="5" name="TextBox 4"/>
          <p:cNvSpPr txBox="1"/>
          <p:nvPr/>
        </p:nvSpPr>
        <p:spPr>
          <a:xfrm>
            <a:off x="640080" y="6455664"/>
            <a:ext cx="3657600" cy="274320"/>
          </a:xfrm>
          <a:prstGeom prst="rect">
            <a:avLst/>
          </a:prstGeom>
          <a:noFill/>
        </p:spPr>
        <p:txBody>
          <a:bodyPr wrap="square" anchor="t" lIns="0" rIns="0" tIns="0" bIns="0">
            <a:spAutoFit/>
          </a:bodyPr>
          <a:lstStyle/>
          <a:p>
            <a:pPr algn="l">
              <a:lnSpc>
                <a:spcPct val="105000"/>
              </a:lnSpc>
              <a:spcBef>
                <a:spcPts val="0"/>
              </a:spcBef>
              <a:spcAft>
                <a:spcPts val="0"/>
              </a:spcAft>
            </a:pPr>
            <a:r>
              <a:rPr sz="900" b="1" i="0">
                <a:solidFill>
                  <a:srgbClr val="006D3D"/>
                </a:solidFill>
                <a:latin typeface="Manrope"/>
              </a:rPr>
              <a:t>Centient</a:t>
            </a:r>
            <a:r>
              <a:rPr sz="900" b="0" i="0">
                <a:solidFill>
                  <a:srgbClr val="444A46"/>
                </a:solidFill>
                <a:latin typeface="Inter"/>
              </a:rPr>
              <a:t>  ·  Train AI, cent by cent.</a:t>
            </a:r>
          </a:p>
        </p:txBody>
      </p:sp>
      <p:sp>
        <p:nvSpPr>
          <p:cNvPr id="6" name="TextBox 5"/>
          <p:cNvSpPr txBox="1"/>
          <p:nvPr/>
        </p:nvSpPr>
        <p:spPr>
          <a:xfrm>
            <a:off x="10424160" y="6455664"/>
            <a:ext cx="1097280" cy="274320"/>
          </a:xfrm>
          <a:prstGeom prst="rect">
            <a:avLst/>
          </a:prstGeom>
          <a:noFill/>
        </p:spPr>
        <p:txBody>
          <a:bodyPr wrap="square" anchor="t" lIns="0" rIns="0" tIns="0" bIns="0">
            <a:spAutoFit/>
          </a:bodyPr>
          <a:lstStyle/>
          <a:p>
            <a:pPr algn="r">
              <a:lnSpc>
                <a:spcPct val="105000"/>
              </a:lnSpc>
              <a:spcBef>
                <a:spcPts val="0"/>
              </a:spcBef>
              <a:spcAft>
                <a:spcPts val="0"/>
              </a:spcAft>
            </a:pPr>
            <a:r>
              <a:rPr sz="900" b="1" i="0">
                <a:solidFill>
                  <a:srgbClr val="444A46"/>
                </a:solidFill>
                <a:latin typeface="Inter"/>
              </a:rPr>
              <a:t>07</a:t>
            </a:r>
          </a:p>
        </p:txBody>
      </p:sp>
      <p:sp>
        <p:nvSpPr>
          <p:cNvPr id="7" name="TextBox 6"/>
          <p:cNvSpPr txBox="1"/>
          <p:nvPr/>
        </p:nvSpPr>
        <p:spPr>
          <a:xfrm>
            <a:off x="640080" y="841248"/>
            <a:ext cx="10881360" cy="914400"/>
          </a:xfrm>
          <a:prstGeom prst="rect">
            <a:avLst/>
          </a:prstGeom>
          <a:noFill/>
        </p:spPr>
        <p:txBody>
          <a:bodyPr wrap="square" anchor="t" lIns="0" rIns="0" tIns="0" bIns="0">
            <a:spAutoFit/>
          </a:bodyPr>
          <a:lstStyle/>
          <a:p>
            <a:pPr algn="l">
              <a:lnSpc>
                <a:spcPct val="100000"/>
              </a:lnSpc>
              <a:spcBef>
                <a:spcPts val="0"/>
              </a:spcBef>
              <a:spcAft>
                <a:spcPts val="0"/>
              </a:spcAft>
            </a:pPr>
            <a:r>
              <a:rPr sz="3000" b="1" i="0">
                <a:solidFill>
                  <a:srgbClr val="1A1C19"/>
                </a:solidFill>
                <a:latin typeface="Manrope"/>
              </a:rPr>
              <a:t>We build on existing Stellar solutions — not around them</a:t>
            </a:r>
          </a:p>
        </p:txBody>
      </p:sp>
      <p:sp>
        <p:nvSpPr>
          <p:cNvPr id="8" name="Rounded Rectangle 7"/>
          <p:cNvSpPr/>
          <p:nvPr/>
        </p:nvSpPr>
        <p:spPr>
          <a:xfrm>
            <a:off x="640080" y="1691640"/>
            <a:ext cx="3602736" cy="4160520"/>
          </a:xfrm>
          <a:prstGeom prst="roundRect">
            <a:avLst>
              <a:gd name="adj" fmla="val 6000"/>
            </a:avLst>
          </a:prstGeom>
          <a:solidFill>
            <a:srgbClr val="FFFFFF"/>
          </a:solidFill>
          <a:ln w="12700">
            <a:solidFill>
              <a:srgbClr val="D7DD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1691640"/>
            <a:ext cx="3602736" cy="457200"/>
          </a:xfrm>
          <a:prstGeom prst="rect">
            <a:avLst/>
          </a:prstGeom>
          <a:solidFill>
            <a:srgbClr val="006D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737360"/>
            <a:ext cx="3602736" cy="384048"/>
          </a:xfrm>
          <a:prstGeom prst="rect">
            <a:avLst/>
          </a:prstGeom>
          <a:noFill/>
        </p:spPr>
        <p:txBody>
          <a:bodyPr wrap="square" anchor="ctr" lIns="0" rIns="0" tIns="0" bIns="0">
            <a:spAutoFit/>
          </a:bodyPr>
          <a:lstStyle/>
          <a:p>
            <a:pPr algn="ctr">
              <a:lnSpc>
                <a:spcPct val="105000"/>
              </a:lnSpc>
              <a:spcBef>
                <a:spcPts val="0"/>
              </a:spcBef>
              <a:spcAft>
                <a:spcPts val="0"/>
              </a:spcAft>
            </a:pPr>
            <a:r>
              <a:rPr sz="1300" b="1" i="0">
                <a:solidFill>
                  <a:srgbClr val="FFFFFF"/>
                </a:solidFill>
                <a:latin typeface="Manrope"/>
              </a:rPr>
              <a:t>NOW — foundation</a:t>
            </a:r>
          </a:p>
        </p:txBody>
      </p:sp>
      <p:sp>
        <p:nvSpPr>
          <p:cNvPr id="11" name="TextBox 10"/>
          <p:cNvSpPr txBox="1"/>
          <p:nvPr/>
        </p:nvSpPr>
        <p:spPr>
          <a:xfrm>
            <a:off x="841248" y="2331720"/>
            <a:ext cx="3200400" cy="1097280"/>
          </a:xfrm>
          <a:prstGeom prst="rect">
            <a:avLst/>
          </a:prstGeom>
          <a:noFill/>
        </p:spPr>
        <p:txBody>
          <a:bodyPr wrap="square" anchor="t" lIns="0" rIns="0" tIns="0" bIns="0">
            <a:spAutoFit/>
          </a:bodyPr>
          <a:lstStyle/>
          <a:p>
            <a:pPr algn="l">
              <a:lnSpc>
                <a:spcPct val="105000"/>
              </a:lnSpc>
              <a:spcBef>
                <a:spcPts val="0"/>
              </a:spcBef>
              <a:spcAft>
                <a:spcPts val="200"/>
              </a:spcAft>
            </a:pPr>
            <a:r>
              <a:rPr sz="1250" b="1" i="0">
                <a:solidFill>
                  <a:srgbClr val="006D3D"/>
                </a:solidFill>
                <a:latin typeface="Manrope"/>
              </a:rPr>
              <a:t>Sponsored reserves + fee-bump</a:t>
            </a:r>
          </a:p>
          <a:p>
            <a:pPr algn="l">
              <a:lnSpc>
                <a:spcPct val="105000"/>
              </a:lnSpc>
              <a:spcBef>
                <a:spcPts val="0"/>
              </a:spcBef>
              <a:spcAft>
                <a:spcPts val="200"/>
              </a:spcAft>
            </a:pPr>
            <a:r>
              <a:rPr sz="1050" b="0" i="0">
                <a:solidFill>
                  <a:srgbClr val="444A46"/>
                </a:solidFill>
                <a:latin typeface="Inter"/>
              </a:rPr>
              <a:t>CAP-33 / CAP-15 — zero-XLM onboarding; we pay the account reserve, trustline &amp; fees</a:t>
            </a:r>
          </a:p>
        </p:txBody>
      </p:sp>
      <p:sp>
        <p:nvSpPr>
          <p:cNvPr id="12" name="TextBox 11"/>
          <p:cNvSpPr txBox="1"/>
          <p:nvPr/>
        </p:nvSpPr>
        <p:spPr>
          <a:xfrm>
            <a:off x="841248" y="3465576"/>
            <a:ext cx="3200400" cy="1097280"/>
          </a:xfrm>
          <a:prstGeom prst="rect">
            <a:avLst/>
          </a:prstGeom>
          <a:noFill/>
        </p:spPr>
        <p:txBody>
          <a:bodyPr wrap="square" anchor="t" lIns="0" rIns="0" tIns="0" bIns="0">
            <a:spAutoFit/>
          </a:bodyPr>
          <a:lstStyle/>
          <a:p>
            <a:pPr algn="l">
              <a:lnSpc>
                <a:spcPct val="105000"/>
              </a:lnSpc>
              <a:spcBef>
                <a:spcPts val="0"/>
              </a:spcBef>
              <a:spcAft>
                <a:spcPts val="200"/>
              </a:spcAft>
            </a:pPr>
            <a:r>
              <a:rPr sz="1250" b="1" i="0">
                <a:solidFill>
                  <a:srgbClr val="006D3D"/>
                </a:solidFill>
                <a:latin typeface="Manrope"/>
              </a:rPr>
              <a:t>SEP-10 web auth + SEP-1</a:t>
            </a:r>
          </a:p>
          <a:p>
            <a:pPr algn="l">
              <a:lnSpc>
                <a:spcPct val="105000"/>
              </a:lnSpc>
              <a:spcBef>
                <a:spcPts val="0"/>
              </a:spcBef>
              <a:spcAft>
                <a:spcPts val="200"/>
              </a:spcAft>
            </a:pPr>
            <a:r>
              <a:rPr sz="1050" b="0" i="0">
                <a:solidFill>
                  <a:srgbClr val="444A46"/>
                </a:solidFill>
                <a:latin typeface="Inter"/>
              </a:rPr>
              <a:t>standard, audited account-ownership + stellar.toml discovery</a:t>
            </a:r>
          </a:p>
        </p:txBody>
      </p:sp>
      <p:sp>
        <p:nvSpPr>
          <p:cNvPr id="13" name="TextBox 12"/>
          <p:cNvSpPr txBox="1"/>
          <p:nvPr/>
        </p:nvSpPr>
        <p:spPr>
          <a:xfrm>
            <a:off x="841248" y="4599432"/>
            <a:ext cx="3200400" cy="1097280"/>
          </a:xfrm>
          <a:prstGeom prst="rect">
            <a:avLst/>
          </a:prstGeom>
          <a:noFill/>
        </p:spPr>
        <p:txBody>
          <a:bodyPr wrap="square" anchor="t" lIns="0" rIns="0" tIns="0" bIns="0">
            <a:spAutoFit/>
          </a:bodyPr>
          <a:lstStyle/>
          <a:p>
            <a:pPr algn="l">
              <a:lnSpc>
                <a:spcPct val="105000"/>
              </a:lnSpc>
              <a:spcBef>
                <a:spcPts val="0"/>
              </a:spcBef>
              <a:spcAft>
                <a:spcPts val="200"/>
              </a:spcAft>
            </a:pPr>
            <a:r>
              <a:rPr sz="1250" b="1" i="0">
                <a:solidFill>
                  <a:srgbClr val="006D3D"/>
                </a:solidFill>
                <a:latin typeface="Manrope"/>
              </a:rPr>
              <a:t>SEP-53 message signing</a:t>
            </a:r>
          </a:p>
          <a:p>
            <a:pPr algn="l">
              <a:lnSpc>
                <a:spcPct val="105000"/>
              </a:lnSpc>
              <a:spcBef>
                <a:spcPts val="0"/>
              </a:spcBef>
              <a:spcAft>
                <a:spcPts val="200"/>
              </a:spcAft>
            </a:pPr>
            <a:r>
              <a:rPr sz="1050" b="0" i="0">
                <a:solidFill>
                  <a:srgbClr val="444A46"/>
                </a:solidFill>
                <a:latin typeface="Inter"/>
              </a:rPr>
              <a:t>swap our custom login nonce for the finalized standard</a:t>
            </a:r>
          </a:p>
        </p:txBody>
      </p:sp>
      <p:sp>
        <p:nvSpPr>
          <p:cNvPr id="14" name="Rounded Rectangle 13"/>
          <p:cNvSpPr/>
          <p:nvPr/>
        </p:nvSpPr>
        <p:spPr>
          <a:xfrm>
            <a:off x="4311396" y="1691640"/>
            <a:ext cx="3602736" cy="4160520"/>
          </a:xfrm>
          <a:prstGeom prst="roundRect">
            <a:avLst>
              <a:gd name="adj" fmla="val 6000"/>
            </a:avLst>
          </a:prstGeom>
          <a:solidFill>
            <a:srgbClr val="FFFFFF"/>
          </a:solidFill>
          <a:ln w="12700">
            <a:solidFill>
              <a:srgbClr val="D7DD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11396" y="1691640"/>
            <a:ext cx="3602736" cy="457200"/>
          </a:xfrm>
          <a:prstGeom prst="rect">
            <a:avLst/>
          </a:prstGeom>
          <a:solidFill>
            <a:srgbClr val="785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11396" y="1737360"/>
            <a:ext cx="3602736" cy="384048"/>
          </a:xfrm>
          <a:prstGeom prst="rect">
            <a:avLst/>
          </a:prstGeom>
          <a:noFill/>
        </p:spPr>
        <p:txBody>
          <a:bodyPr wrap="square" anchor="ctr" lIns="0" rIns="0" tIns="0" bIns="0">
            <a:spAutoFit/>
          </a:bodyPr>
          <a:lstStyle/>
          <a:p>
            <a:pPr algn="ctr">
              <a:lnSpc>
                <a:spcPct val="105000"/>
              </a:lnSpc>
              <a:spcBef>
                <a:spcPts val="0"/>
              </a:spcBef>
              <a:spcAft>
                <a:spcPts val="0"/>
              </a:spcAft>
            </a:pPr>
            <a:r>
              <a:rPr sz="1300" b="1" i="0">
                <a:solidFill>
                  <a:srgbClr val="FFFFFF"/>
                </a:solidFill>
                <a:latin typeface="Manrope"/>
              </a:rPr>
              <a:t>NEXT — cash-out &amp; payouts</a:t>
            </a:r>
          </a:p>
        </p:txBody>
      </p:sp>
      <p:sp>
        <p:nvSpPr>
          <p:cNvPr id="17" name="TextBox 16"/>
          <p:cNvSpPr txBox="1"/>
          <p:nvPr/>
        </p:nvSpPr>
        <p:spPr>
          <a:xfrm>
            <a:off x="4512564" y="2331720"/>
            <a:ext cx="3200400" cy="1097280"/>
          </a:xfrm>
          <a:prstGeom prst="rect">
            <a:avLst/>
          </a:prstGeom>
          <a:noFill/>
        </p:spPr>
        <p:txBody>
          <a:bodyPr wrap="square" anchor="t" lIns="0" rIns="0" tIns="0" bIns="0">
            <a:spAutoFit/>
          </a:bodyPr>
          <a:lstStyle/>
          <a:p>
            <a:pPr algn="l">
              <a:lnSpc>
                <a:spcPct val="105000"/>
              </a:lnSpc>
              <a:spcBef>
                <a:spcPts val="0"/>
              </a:spcBef>
              <a:spcAft>
                <a:spcPts val="200"/>
              </a:spcAft>
            </a:pPr>
            <a:r>
              <a:rPr sz="1250" b="1" i="0">
                <a:solidFill>
                  <a:srgbClr val="785A00"/>
                </a:solidFill>
                <a:latin typeface="Manrope"/>
              </a:rPr>
              <a:t>SEP-24 anchor cash-out</a:t>
            </a:r>
          </a:p>
          <a:p>
            <a:pPr algn="l">
              <a:lnSpc>
                <a:spcPct val="105000"/>
              </a:lnSpc>
              <a:spcBef>
                <a:spcPts val="0"/>
              </a:spcBef>
              <a:spcAft>
                <a:spcPts val="200"/>
              </a:spcAft>
            </a:pPr>
            <a:r>
              <a:rPr sz="1050" b="0" i="0">
                <a:solidFill>
                  <a:srgbClr val="444A46"/>
                </a:solidFill>
                <a:latin typeface="Inter"/>
              </a:rPr>
              <a:t>in-app USDC → local fiat via MoneyGram, Coins.ph, Yellow Card</a:t>
            </a:r>
          </a:p>
        </p:txBody>
      </p:sp>
      <p:sp>
        <p:nvSpPr>
          <p:cNvPr id="18" name="TextBox 17"/>
          <p:cNvSpPr txBox="1"/>
          <p:nvPr/>
        </p:nvSpPr>
        <p:spPr>
          <a:xfrm>
            <a:off x="4512564" y="3465576"/>
            <a:ext cx="3200400" cy="1097280"/>
          </a:xfrm>
          <a:prstGeom prst="rect">
            <a:avLst/>
          </a:prstGeom>
          <a:noFill/>
        </p:spPr>
        <p:txBody>
          <a:bodyPr wrap="square" anchor="t" lIns="0" rIns="0" tIns="0" bIns="0">
            <a:spAutoFit/>
          </a:bodyPr>
          <a:lstStyle/>
          <a:p>
            <a:pPr algn="l">
              <a:lnSpc>
                <a:spcPct val="105000"/>
              </a:lnSpc>
              <a:spcBef>
                <a:spcPts val="0"/>
              </a:spcBef>
              <a:spcAft>
                <a:spcPts val="200"/>
              </a:spcAft>
            </a:pPr>
            <a:r>
              <a:rPr sz="1250" b="1" i="0">
                <a:solidFill>
                  <a:srgbClr val="785A00"/>
                </a:solidFill>
                <a:latin typeface="Manrope"/>
              </a:rPr>
              <a:t>Stellar Disbursement Platform</a:t>
            </a:r>
          </a:p>
          <a:p>
            <a:pPr algn="l">
              <a:lnSpc>
                <a:spcPct val="105000"/>
              </a:lnSpc>
              <a:spcBef>
                <a:spcPts val="0"/>
              </a:spcBef>
              <a:spcAft>
                <a:spcPts val="200"/>
              </a:spcAft>
            </a:pPr>
            <a:r>
              <a:rPr sz="1050" b="0" i="0">
                <a:solidFill>
                  <a:srgbClr val="444A46"/>
                </a:solidFill>
                <a:latin typeface="Inter"/>
              </a:rPr>
              <a:t>adopt SDF's bulk-payout engine for the withdrawal leg (retries, custody, reporting)</a:t>
            </a:r>
          </a:p>
        </p:txBody>
      </p:sp>
      <p:sp>
        <p:nvSpPr>
          <p:cNvPr id="19" name="TextBox 18"/>
          <p:cNvSpPr txBox="1"/>
          <p:nvPr/>
        </p:nvSpPr>
        <p:spPr>
          <a:xfrm>
            <a:off x="4512564" y="4599432"/>
            <a:ext cx="3200400" cy="1097280"/>
          </a:xfrm>
          <a:prstGeom prst="rect">
            <a:avLst/>
          </a:prstGeom>
          <a:noFill/>
        </p:spPr>
        <p:txBody>
          <a:bodyPr wrap="square" anchor="t" lIns="0" rIns="0" tIns="0" bIns="0">
            <a:spAutoFit/>
          </a:bodyPr>
          <a:lstStyle/>
          <a:p>
            <a:pPr algn="l">
              <a:lnSpc>
                <a:spcPct val="105000"/>
              </a:lnSpc>
              <a:spcBef>
                <a:spcPts val="0"/>
              </a:spcBef>
              <a:spcAft>
                <a:spcPts val="200"/>
              </a:spcAft>
            </a:pPr>
            <a:r>
              <a:rPr sz="1250" b="1" i="0">
                <a:solidFill>
                  <a:srgbClr val="785A00"/>
                </a:solidFill>
                <a:latin typeface="Manrope"/>
              </a:rPr>
              <a:t>SEP-38 quotes</a:t>
            </a:r>
          </a:p>
          <a:p>
            <a:pPr algn="l">
              <a:lnSpc>
                <a:spcPct val="105000"/>
              </a:lnSpc>
              <a:spcBef>
                <a:spcPts val="0"/>
              </a:spcBef>
              <a:spcAft>
                <a:spcPts val="200"/>
              </a:spcAft>
            </a:pPr>
            <a:r>
              <a:rPr sz="1050" b="0" i="0">
                <a:solidFill>
                  <a:srgbClr val="444A46"/>
                </a:solidFill>
                <a:latin typeface="Inter"/>
              </a:rPr>
              <a:t>show “you’ll receive ₱X” before withdrawal</a:t>
            </a:r>
          </a:p>
        </p:txBody>
      </p:sp>
      <p:sp>
        <p:nvSpPr>
          <p:cNvPr id="20" name="Rounded Rectangle 19"/>
          <p:cNvSpPr/>
          <p:nvPr/>
        </p:nvSpPr>
        <p:spPr>
          <a:xfrm>
            <a:off x="7982712" y="1691640"/>
            <a:ext cx="3602736" cy="4160520"/>
          </a:xfrm>
          <a:prstGeom prst="roundRect">
            <a:avLst>
              <a:gd name="adj" fmla="val 6000"/>
            </a:avLst>
          </a:prstGeom>
          <a:solidFill>
            <a:srgbClr val="FFFFFF"/>
          </a:solidFill>
          <a:ln w="12700">
            <a:solidFill>
              <a:srgbClr val="D7DD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982712" y="1691640"/>
            <a:ext cx="3602736" cy="457200"/>
          </a:xfrm>
          <a:prstGeom prst="rect">
            <a:avLst/>
          </a:prstGeom>
          <a:solidFill>
            <a:srgbClr val="0054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82712" y="1737360"/>
            <a:ext cx="3602736" cy="384048"/>
          </a:xfrm>
          <a:prstGeom prst="rect">
            <a:avLst/>
          </a:prstGeom>
          <a:noFill/>
        </p:spPr>
        <p:txBody>
          <a:bodyPr wrap="square" anchor="ctr" lIns="0" rIns="0" tIns="0" bIns="0">
            <a:spAutoFit/>
          </a:bodyPr>
          <a:lstStyle/>
          <a:p>
            <a:pPr algn="ctr">
              <a:lnSpc>
                <a:spcPct val="105000"/>
              </a:lnSpc>
              <a:spcBef>
                <a:spcPts val="0"/>
              </a:spcBef>
              <a:spcAft>
                <a:spcPts val="0"/>
              </a:spcAft>
            </a:pPr>
            <a:r>
              <a:rPr sz="1300" b="1" i="0">
                <a:solidFill>
                  <a:srgbClr val="FFFFFF"/>
                </a:solidFill>
                <a:latin typeface="Manrope"/>
              </a:rPr>
              <a:t>LATER — differentiate</a:t>
            </a:r>
          </a:p>
        </p:txBody>
      </p:sp>
      <p:sp>
        <p:nvSpPr>
          <p:cNvPr id="23" name="TextBox 22"/>
          <p:cNvSpPr txBox="1"/>
          <p:nvPr/>
        </p:nvSpPr>
        <p:spPr>
          <a:xfrm>
            <a:off x="8183880" y="2331720"/>
            <a:ext cx="3200400" cy="1097280"/>
          </a:xfrm>
          <a:prstGeom prst="rect">
            <a:avLst/>
          </a:prstGeom>
          <a:noFill/>
        </p:spPr>
        <p:txBody>
          <a:bodyPr wrap="square" anchor="t" lIns="0" rIns="0" tIns="0" bIns="0">
            <a:spAutoFit/>
          </a:bodyPr>
          <a:lstStyle/>
          <a:p>
            <a:pPr algn="l">
              <a:lnSpc>
                <a:spcPct val="105000"/>
              </a:lnSpc>
              <a:spcBef>
                <a:spcPts val="0"/>
              </a:spcBef>
              <a:spcAft>
                <a:spcPts val="200"/>
              </a:spcAft>
            </a:pPr>
            <a:r>
              <a:rPr sz="1250" b="1" i="0">
                <a:solidFill>
                  <a:srgbClr val="00542D"/>
                </a:solidFill>
                <a:latin typeface="Manrope"/>
              </a:rPr>
              <a:t>Soroban escrow &amp; reputation</a:t>
            </a:r>
          </a:p>
          <a:p>
            <a:pPr algn="l">
              <a:lnSpc>
                <a:spcPct val="105000"/>
              </a:lnSpc>
              <a:spcBef>
                <a:spcPts val="0"/>
              </a:spcBef>
              <a:spcAft>
                <a:spcPts val="200"/>
              </a:spcAft>
            </a:pPr>
            <a:r>
              <a:rPr sz="1050" b="0" i="0">
                <a:solidFill>
                  <a:srgbClr val="444A46"/>
                </a:solidFill>
                <a:latin typeface="Inter"/>
              </a:rPr>
              <a:t>on-chain campaign escrow, staking/slashing, proof-of-contribution</a:t>
            </a:r>
          </a:p>
        </p:txBody>
      </p:sp>
      <p:sp>
        <p:nvSpPr>
          <p:cNvPr id="24" name="TextBox 23"/>
          <p:cNvSpPr txBox="1"/>
          <p:nvPr/>
        </p:nvSpPr>
        <p:spPr>
          <a:xfrm>
            <a:off x="8183880" y="3465576"/>
            <a:ext cx="3200400" cy="1097280"/>
          </a:xfrm>
          <a:prstGeom prst="rect">
            <a:avLst/>
          </a:prstGeom>
          <a:noFill/>
        </p:spPr>
        <p:txBody>
          <a:bodyPr wrap="square" anchor="t" lIns="0" rIns="0" tIns="0" bIns="0">
            <a:spAutoFit/>
          </a:bodyPr>
          <a:lstStyle/>
          <a:p>
            <a:pPr algn="l">
              <a:lnSpc>
                <a:spcPct val="105000"/>
              </a:lnSpc>
              <a:spcBef>
                <a:spcPts val="0"/>
              </a:spcBef>
              <a:spcAft>
                <a:spcPts val="200"/>
              </a:spcAft>
            </a:pPr>
            <a:r>
              <a:rPr sz="1250" b="1" i="0">
                <a:solidFill>
                  <a:srgbClr val="00542D"/>
                </a:solidFill>
                <a:latin typeface="Manrope"/>
              </a:rPr>
              <a:t>Passkey smart wallets</a:t>
            </a:r>
          </a:p>
          <a:p>
            <a:pPr algn="l">
              <a:lnSpc>
                <a:spcPct val="105000"/>
              </a:lnSpc>
              <a:spcBef>
                <a:spcPts val="0"/>
              </a:spcBef>
              <a:spcAft>
                <a:spcPts val="200"/>
              </a:spcAft>
            </a:pPr>
            <a:r>
              <a:rPr sz="1050" b="0" i="0">
                <a:solidFill>
                  <a:srgbClr val="444A46"/>
                </a:solidFill>
                <a:latin typeface="Inter"/>
              </a:rPr>
              <a:t>seedless, biometric onboarding when the stack hits audited 1.0</a:t>
            </a:r>
          </a:p>
        </p:txBody>
      </p:sp>
      <p:sp>
        <p:nvSpPr>
          <p:cNvPr id="25" name="TextBox 24"/>
          <p:cNvSpPr txBox="1"/>
          <p:nvPr/>
        </p:nvSpPr>
        <p:spPr>
          <a:xfrm>
            <a:off x="8183880" y="4599432"/>
            <a:ext cx="3200400" cy="1097280"/>
          </a:xfrm>
          <a:prstGeom prst="rect">
            <a:avLst/>
          </a:prstGeom>
          <a:noFill/>
        </p:spPr>
        <p:txBody>
          <a:bodyPr wrap="square" anchor="t" lIns="0" rIns="0" tIns="0" bIns="0">
            <a:spAutoFit/>
          </a:bodyPr>
          <a:lstStyle/>
          <a:p>
            <a:pPr algn="l">
              <a:lnSpc>
                <a:spcPct val="105000"/>
              </a:lnSpc>
              <a:spcBef>
                <a:spcPts val="0"/>
              </a:spcBef>
              <a:spcAft>
                <a:spcPts val="200"/>
              </a:spcAft>
            </a:pPr>
            <a:r>
              <a:rPr sz="1250" b="1" i="0">
                <a:solidFill>
                  <a:srgbClr val="00542D"/>
                </a:solidFill>
                <a:latin typeface="Manrope"/>
              </a:rPr>
              <a:t>Path payments / DEX</a:t>
            </a:r>
          </a:p>
          <a:p>
            <a:pPr algn="l">
              <a:lnSpc>
                <a:spcPct val="105000"/>
              </a:lnSpc>
              <a:spcBef>
                <a:spcPts val="0"/>
              </a:spcBef>
              <a:spcAft>
                <a:spcPts val="200"/>
              </a:spcAft>
            </a:pPr>
            <a:r>
              <a:rPr sz="1050" b="0" i="0">
                <a:solidFill>
                  <a:srgbClr val="444A46"/>
                </a:solidFill>
                <a:latin typeface="Inter"/>
              </a:rPr>
              <a:t>optional “receive your preferred asset” at cash-out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66928"/>
            <a:ext cx="384048" cy="82296"/>
          </a:xfrm>
          <a:prstGeom prst="rect">
            <a:avLst/>
          </a:prstGeom>
          <a:solidFill>
            <a:srgbClr val="006D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457200"/>
            <a:ext cx="8229600" cy="320040"/>
          </a:xfrm>
          <a:prstGeom prst="rect">
            <a:avLst/>
          </a:prstGeom>
          <a:noFill/>
        </p:spPr>
        <p:txBody>
          <a:bodyPr wrap="square" anchor="t" lIns="0" rIns="0" tIns="0" bIns="0">
            <a:spAutoFit/>
          </a:bodyPr>
          <a:lstStyle/>
          <a:p>
            <a:pPr algn="l">
              <a:lnSpc>
                <a:spcPct val="105000"/>
              </a:lnSpc>
              <a:spcBef>
                <a:spcPts val="0"/>
              </a:spcBef>
              <a:spcAft>
                <a:spcPts val="0"/>
              </a:spcAft>
            </a:pPr>
            <a:r>
              <a:rPr sz="1300" b="1" i="0">
                <a:solidFill>
                  <a:srgbClr val="006D3D"/>
                </a:solidFill>
                <a:latin typeface="Inter"/>
              </a:rPr>
              <a:t>MARKET</a:t>
            </a:r>
          </a:p>
        </p:txBody>
      </p:sp>
      <p:sp>
        <p:nvSpPr>
          <p:cNvPr id="5" name="TextBox 4"/>
          <p:cNvSpPr txBox="1"/>
          <p:nvPr/>
        </p:nvSpPr>
        <p:spPr>
          <a:xfrm>
            <a:off x="640080" y="6455664"/>
            <a:ext cx="3657600" cy="274320"/>
          </a:xfrm>
          <a:prstGeom prst="rect">
            <a:avLst/>
          </a:prstGeom>
          <a:noFill/>
        </p:spPr>
        <p:txBody>
          <a:bodyPr wrap="square" anchor="t" lIns="0" rIns="0" tIns="0" bIns="0">
            <a:spAutoFit/>
          </a:bodyPr>
          <a:lstStyle/>
          <a:p>
            <a:pPr algn="l">
              <a:lnSpc>
                <a:spcPct val="105000"/>
              </a:lnSpc>
              <a:spcBef>
                <a:spcPts val="0"/>
              </a:spcBef>
              <a:spcAft>
                <a:spcPts val="0"/>
              </a:spcAft>
            </a:pPr>
            <a:r>
              <a:rPr sz="900" b="1" i="0">
                <a:solidFill>
                  <a:srgbClr val="006D3D"/>
                </a:solidFill>
                <a:latin typeface="Manrope"/>
              </a:rPr>
              <a:t>Centient</a:t>
            </a:r>
            <a:r>
              <a:rPr sz="900" b="0" i="0">
                <a:solidFill>
                  <a:srgbClr val="444A46"/>
                </a:solidFill>
                <a:latin typeface="Inter"/>
              </a:rPr>
              <a:t>  ·  Train AI, cent by cent.</a:t>
            </a:r>
          </a:p>
        </p:txBody>
      </p:sp>
      <p:sp>
        <p:nvSpPr>
          <p:cNvPr id="6" name="TextBox 5"/>
          <p:cNvSpPr txBox="1"/>
          <p:nvPr/>
        </p:nvSpPr>
        <p:spPr>
          <a:xfrm>
            <a:off x="10424160" y="6455664"/>
            <a:ext cx="1097280" cy="274320"/>
          </a:xfrm>
          <a:prstGeom prst="rect">
            <a:avLst/>
          </a:prstGeom>
          <a:noFill/>
        </p:spPr>
        <p:txBody>
          <a:bodyPr wrap="square" anchor="t" lIns="0" rIns="0" tIns="0" bIns="0">
            <a:spAutoFit/>
          </a:bodyPr>
          <a:lstStyle/>
          <a:p>
            <a:pPr algn="r">
              <a:lnSpc>
                <a:spcPct val="105000"/>
              </a:lnSpc>
              <a:spcBef>
                <a:spcPts val="0"/>
              </a:spcBef>
              <a:spcAft>
                <a:spcPts val="0"/>
              </a:spcAft>
            </a:pPr>
            <a:r>
              <a:rPr sz="900" b="1" i="0">
                <a:solidFill>
                  <a:srgbClr val="444A46"/>
                </a:solidFill>
                <a:latin typeface="Inter"/>
              </a:rPr>
              <a:t>08</a:t>
            </a:r>
          </a:p>
        </p:txBody>
      </p:sp>
      <p:sp>
        <p:nvSpPr>
          <p:cNvPr id="7" name="TextBox 6"/>
          <p:cNvSpPr txBox="1"/>
          <p:nvPr/>
        </p:nvSpPr>
        <p:spPr>
          <a:xfrm>
            <a:off x="640080" y="841248"/>
            <a:ext cx="10881360" cy="914400"/>
          </a:xfrm>
          <a:prstGeom prst="rect">
            <a:avLst/>
          </a:prstGeom>
          <a:noFill/>
        </p:spPr>
        <p:txBody>
          <a:bodyPr wrap="square" anchor="t" lIns="0" rIns="0" tIns="0" bIns="0">
            <a:spAutoFit/>
          </a:bodyPr>
          <a:lstStyle/>
          <a:p>
            <a:pPr algn="l">
              <a:lnSpc>
                <a:spcPct val="100000"/>
              </a:lnSpc>
              <a:spcBef>
                <a:spcPts val="0"/>
              </a:spcBef>
              <a:spcAft>
                <a:spcPts val="0"/>
              </a:spcAft>
            </a:pPr>
            <a:r>
              <a:rPr sz="3000" b="1" i="0">
                <a:solidFill>
                  <a:srgbClr val="1A1C19"/>
                </a:solidFill>
                <a:latin typeface="Manrope"/>
              </a:rPr>
              <a:t>A fast-growing market — and a lane no one else owns</a:t>
            </a:r>
          </a:p>
        </p:txBody>
      </p:sp>
      <p:sp>
        <p:nvSpPr>
          <p:cNvPr id="8" name="Rounded Rectangle 7"/>
          <p:cNvSpPr/>
          <p:nvPr/>
        </p:nvSpPr>
        <p:spPr>
          <a:xfrm>
            <a:off x="640080" y="1691640"/>
            <a:ext cx="3520440" cy="1371600"/>
          </a:xfrm>
          <a:prstGeom prst="roundRect">
            <a:avLst>
              <a:gd name="adj" fmla="val 6000"/>
            </a:avLst>
          </a:prstGeom>
          <a:solidFill>
            <a:srgbClr val="FFFFFF"/>
          </a:solidFill>
          <a:ln w="12700">
            <a:solidFill>
              <a:srgbClr val="D7DD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911096"/>
            <a:ext cx="3520440" cy="640080"/>
          </a:xfrm>
          <a:prstGeom prst="rect">
            <a:avLst/>
          </a:prstGeom>
          <a:noFill/>
        </p:spPr>
        <p:txBody>
          <a:bodyPr wrap="square" anchor="t" lIns="0" rIns="0" tIns="0" bIns="0">
            <a:spAutoFit/>
          </a:bodyPr>
          <a:lstStyle/>
          <a:p>
            <a:pPr algn="ctr">
              <a:lnSpc>
                <a:spcPct val="105000"/>
              </a:lnSpc>
              <a:spcBef>
                <a:spcPts val="0"/>
              </a:spcBef>
              <a:spcAft>
                <a:spcPts val="0"/>
              </a:spcAft>
            </a:pPr>
            <a:r>
              <a:rPr sz="3000" b="1" i="0">
                <a:solidFill>
                  <a:srgbClr val="006D3D"/>
                </a:solidFill>
                <a:latin typeface="Manrope"/>
              </a:rPr>
              <a:t>~26–28%</a:t>
            </a:r>
          </a:p>
        </p:txBody>
      </p:sp>
      <p:sp>
        <p:nvSpPr>
          <p:cNvPr id="10" name="TextBox 9"/>
          <p:cNvSpPr txBox="1"/>
          <p:nvPr/>
        </p:nvSpPr>
        <p:spPr>
          <a:xfrm>
            <a:off x="777240" y="2560320"/>
            <a:ext cx="3246120" cy="457200"/>
          </a:xfrm>
          <a:prstGeom prst="rect">
            <a:avLst/>
          </a:prstGeom>
          <a:noFill/>
        </p:spPr>
        <p:txBody>
          <a:bodyPr wrap="square" anchor="t" lIns="0" rIns="0" tIns="0" bIns="0">
            <a:spAutoFit/>
          </a:bodyPr>
          <a:lstStyle/>
          <a:p>
            <a:pPr algn="ctr">
              <a:lnSpc>
                <a:spcPct val="100000"/>
              </a:lnSpc>
              <a:spcBef>
                <a:spcPts val="0"/>
              </a:spcBef>
              <a:spcAft>
                <a:spcPts val="0"/>
              </a:spcAft>
            </a:pPr>
            <a:r>
              <a:rPr sz="1050" b="0" i="0">
                <a:solidFill>
                  <a:srgbClr val="444A46"/>
                </a:solidFill>
                <a:latin typeface="Inter"/>
              </a:rPr>
              <a:t>AI data-labeling market CAGR</a:t>
            </a:r>
          </a:p>
        </p:txBody>
      </p:sp>
      <p:sp>
        <p:nvSpPr>
          <p:cNvPr id="11" name="Rounded Rectangle 10"/>
          <p:cNvSpPr/>
          <p:nvPr/>
        </p:nvSpPr>
        <p:spPr>
          <a:xfrm>
            <a:off x="4334256" y="1691640"/>
            <a:ext cx="3520440" cy="1371600"/>
          </a:xfrm>
          <a:prstGeom prst="roundRect">
            <a:avLst>
              <a:gd name="adj" fmla="val 6000"/>
            </a:avLst>
          </a:prstGeom>
          <a:solidFill>
            <a:srgbClr val="FFFFFF"/>
          </a:solidFill>
          <a:ln w="12700">
            <a:solidFill>
              <a:srgbClr val="D7DD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34256" y="1911096"/>
            <a:ext cx="3520440" cy="640080"/>
          </a:xfrm>
          <a:prstGeom prst="rect">
            <a:avLst/>
          </a:prstGeom>
          <a:noFill/>
        </p:spPr>
        <p:txBody>
          <a:bodyPr wrap="square" anchor="t" lIns="0" rIns="0" tIns="0" bIns="0">
            <a:spAutoFit/>
          </a:bodyPr>
          <a:lstStyle/>
          <a:p>
            <a:pPr algn="ctr">
              <a:lnSpc>
                <a:spcPct val="105000"/>
              </a:lnSpc>
              <a:spcBef>
                <a:spcPts val="0"/>
              </a:spcBef>
              <a:spcAft>
                <a:spcPts val="0"/>
              </a:spcAft>
            </a:pPr>
            <a:r>
              <a:rPr sz="3000" b="1" i="0">
                <a:solidFill>
                  <a:srgbClr val="006D3D"/>
                </a:solidFill>
                <a:latin typeface="Manrope"/>
              </a:rPr>
              <a:t>$1–10</a:t>
            </a:r>
          </a:p>
        </p:txBody>
      </p:sp>
      <p:sp>
        <p:nvSpPr>
          <p:cNvPr id="13" name="TextBox 12"/>
          <p:cNvSpPr txBox="1"/>
          <p:nvPr/>
        </p:nvSpPr>
        <p:spPr>
          <a:xfrm>
            <a:off x="4471416" y="2560320"/>
            <a:ext cx="3246120" cy="457200"/>
          </a:xfrm>
          <a:prstGeom prst="rect">
            <a:avLst/>
          </a:prstGeom>
          <a:noFill/>
        </p:spPr>
        <p:txBody>
          <a:bodyPr wrap="square" anchor="t" lIns="0" rIns="0" tIns="0" bIns="0">
            <a:spAutoFit/>
          </a:bodyPr>
          <a:lstStyle/>
          <a:p>
            <a:pPr algn="ctr">
              <a:lnSpc>
                <a:spcPct val="100000"/>
              </a:lnSpc>
              <a:spcBef>
                <a:spcPts val="0"/>
              </a:spcBef>
              <a:spcAft>
                <a:spcPts val="0"/>
              </a:spcAft>
            </a:pPr>
            <a:r>
              <a:rPr sz="1050" b="0" i="0">
                <a:solidFill>
                  <a:srgbClr val="444A46"/>
                </a:solidFill>
                <a:latin typeface="Inter"/>
              </a:rPr>
              <a:t>paid per human preference point</a:t>
            </a:r>
          </a:p>
        </p:txBody>
      </p:sp>
      <p:sp>
        <p:nvSpPr>
          <p:cNvPr id="14" name="Rounded Rectangle 13"/>
          <p:cNvSpPr/>
          <p:nvPr/>
        </p:nvSpPr>
        <p:spPr>
          <a:xfrm>
            <a:off x="8028431" y="1691640"/>
            <a:ext cx="3520440" cy="1371600"/>
          </a:xfrm>
          <a:prstGeom prst="roundRect">
            <a:avLst>
              <a:gd name="adj" fmla="val 6000"/>
            </a:avLst>
          </a:prstGeom>
          <a:solidFill>
            <a:srgbClr val="FFFFFF"/>
          </a:solidFill>
          <a:ln w="12700">
            <a:solidFill>
              <a:srgbClr val="D7DD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28431" y="1911096"/>
            <a:ext cx="3520440" cy="640080"/>
          </a:xfrm>
          <a:prstGeom prst="rect">
            <a:avLst/>
          </a:prstGeom>
          <a:noFill/>
        </p:spPr>
        <p:txBody>
          <a:bodyPr wrap="square" anchor="t" lIns="0" rIns="0" tIns="0" bIns="0">
            <a:spAutoFit/>
          </a:bodyPr>
          <a:lstStyle/>
          <a:p>
            <a:pPr algn="ctr">
              <a:lnSpc>
                <a:spcPct val="105000"/>
              </a:lnSpc>
              <a:spcBef>
                <a:spcPts val="0"/>
              </a:spcBef>
              <a:spcAft>
                <a:spcPts val="0"/>
              </a:spcAft>
            </a:pPr>
            <a:r>
              <a:rPr sz="3000" b="1" i="0">
                <a:solidFill>
                  <a:srgbClr val="006D3D"/>
                </a:solidFill>
                <a:latin typeface="Manrope"/>
              </a:rPr>
              <a:t>&lt;$0.01</a:t>
            </a:r>
          </a:p>
        </p:txBody>
      </p:sp>
      <p:sp>
        <p:nvSpPr>
          <p:cNvPr id="16" name="TextBox 15"/>
          <p:cNvSpPr txBox="1"/>
          <p:nvPr/>
        </p:nvSpPr>
        <p:spPr>
          <a:xfrm>
            <a:off x="8165591" y="2560320"/>
            <a:ext cx="3246120" cy="457200"/>
          </a:xfrm>
          <a:prstGeom prst="rect">
            <a:avLst/>
          </a:prstGeom>
          <a:noFill/>
        </p:spPr>
        <p:txBody>
          <a:bodyPr wrap="square" anchor="t" lIns="0" rIns="0" tIns="0" bIns="0">
            <a:spAutoFit/>
          </a:bodyPr>
          <a:lstStyle/>
          <a:p>
            <a:pPr algn="ctr">
              <a:lnSpc>
                <a:spcPct val="100000"/>
              </a:lnSpc>
              <a:spcBef>
                <a:spcPts val="0"/>
              </a:spcBef>
              <a:spcAft>
                <a:spcPts val="0"/>
              </a:spcAft>
            </a:pPr>
            <a:r>
              <a:rPr sz="1050" b="0" i="0">
                <a:solidFill>
                  <a:srgbClr val="444A46"/>
                </a:solidFill>
                <a:latin typeface="Inter"/>
              </a:rPr>
              <a:t>cost of AI feedback — why humans still win</a:t>
            </a:r>
          </a:p>
        </p:txBody>
      </p:sp>
      <p:sp>
        <p:nvSpPr>
          <p:cNvPr id="17" name="Rounded Rectangle 16"/>
          <p:cNvSpPr/>
          <p:nvPr/>
        </p:nvSpPr>
        <p:spPr>
          <a:xfrm>
            <a:off x="640080" y="3337560"/>
            <a:ext cx="5349240" cy="2514600"/>
          </a:xfrm>
          <a:prstGeom prst="roundRect">
            <a:avLst>
              <a:gd name="adj" fmla="val 6000"/>
            </a:avLst>
          </a:prstGeom>
          <a:solidFill>
            <a:srgbClr val="FFFFFF"/>
          </a:solidFill>
          <a:ln w="12700">
            <a:solidFill>
              <a:srgbClr val="D7DD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3520440"/>
            <a:ext cx="4846320" cy="365760"/>
          </a:xfrm>
          <a:prstGeom prst="rect">
            <a:avLst/>
          </a:prstGeom>
          <a:noFill/>
        </p:spPr>
        <p:txBody>
          <a:bodyPr wrap="square" anchor="t" lIns="0" rIns="0" tIns="0" bIns="0">
            <a:spAutoFit/>
          </a:bodyPr>
          <a:lstStyle/>
          <a:p>
            <a:pPr algn="l">
              <a:lnSpc>
                <a:spcPct val="105000"/>
              </a:lnSpc>
              <a:spcBef>
                <a:spcPts val="0"/>
              </a:spcBef>
              <a:spcAft>
                <a:spcPts val="0"/>
              </a:spcAft>
            </a:pPr>
            <a:r>
              <a:rPr sz="1400" b="1" i="0">
                <a:solidFill>
                  <a:srgbClr val="1A1C19"/>
                </a:solidFill>
                <a:latin typeface="Manrope"/>
              </a:rPr>
              <a:t>The incumbents</a:t>
            </a:r>
          </a:p>
        </p:txBody>
      </p:sp>
      <p:sp>
        <p:nvSpPr>
          <p:cNvPr id="19" name="TextBox 18"/>
          <p:cNvSpPr txBox="1"/>
          <p:nvPr/>
        </p:nvSpPr>
        <p:spPr>
          <a:xfrm>
            <a:off x="914400" y="3931920"/>
            <a:ext cx="4937760" cy="4572000"/>
          </a:xfrm>
          <a:prstGeom prst="rect">
            <a:avLst/>
          </a:prstGeom>
          <a:noFill/>
        </p:spPr>
        <p:txBody>
          <a:bodyPr wrap="square" lIns="0" tIns="0" rIns="0">
            <a:spAutoFit/>
          </a:bodyPr>
          <a:lstStyle/>
          <a:p>
            <a:pPr>
              <a:lnSpc>
                <a:spcPct val="108000"/>
              </a:lnSpc>
              <a:spcBef>
                <a:spcPts val="0"/>
              </a:spcBef>
              <a:spcAft>
                <a:spcPts val="700"/>
              </a:spcAft>
            </a:pPr>
            <a:r>
              <a:rPr sz="1200" b="1" i="0">
                <a:solidFill>
                  <a:srgbClr val="006D3D"/>
                </a:solidFill>
                <a:latin typeface="Inter"/>
              </a:rPr>
              <a:t>—  </a:t>
            </a:r>
            <a:r>
              <a:rPr sz="1200" b="1" i="0">
                <a:solidFill>
                  <a:srgbClr val="1A1C19"/>
                </a:solidFill>
                <a:latin typeface="Inter"/>
              </a:rPr>
              <a:t>Scale AI</a:t>
            </a:r>
            <a:r>
              <a:rPr sz="1200" b="0" i="0">
                <a:solidFill>
                  <a:srgbClr val="444A46"/>
                </a:solidFill>
                <a:latin typeface="Inter"/>
              </a:rPr>
              <a:t> — Meta took ~49% (~$14.3B); rivals now win the neutral work</a:t>
            </a:r>
          </a:p>
          <a:p>
            <a:pPr>
              <a:lnSpc>
                <a:spcPct val="108000"/>
              </a:lnSpc>
              <a:spcBef>
                <a:spcPts val="0"/>
              </a:spcBef>
              <a:spcAft>
                <a:spcPts val="700"/>
              </a:spcAft>
            </a:pPr>
            <a:r>
              <a:rPr sz="1200" b="1" i="0">
                <a:solidFill>
                  <a:srgbClr val="006D3D"/>
                </a:solidFill>
                <a:latin typeface="Inter"/>
              </a:rPr>
              <a:t>—  </a:t>
            </a:r>
            <a:r>
              <a:rPr sz="1200" b="1" i="0">
                <a:solidFill>
                  <a:srgbClr val="1A1C19"/>
                </a:solidFill>
                <a:latin typeface="Inter"/>
              </a:rPr>
              <a:t>Surge / Mercor</a:t>
            </a:r>
            <a:r>
              <a:rPr sz="1200" b="0" i="0">
                <a:solidFill>
                  <a:srgbClr val="444A46"/>
                </a:solidFill>
                <a:latin typeface="Inter"/>
              </a:rPr>
              <a:t> — $10–30B valuations, but experts at $85–200/hr, tiny pools</a:t>
            </a:r>
          </a:p>
          <a:p>
            <a:pPr>
              <a:lnSpc>
                <a:spcPct val="108000"/>
              </a:lnSpc>
              <a:spcBef>
                <a:spcPts val="0"/>
              </a:spcBef>
              <a:spcAft>
                <a:spcPts val="700"/>
              </a:spcAft>
            </a:pPr>
            <a:r>
              <a:rPr sz="1200" b="1" i="0">
                <a:solidFill>
                  <a:srgbClr val="006D3D"/>
                </a:solidFill>
                <a:latin typeface="Inter"/>
              </a:rPr>
              <a:t>—  </a:t>
            </a:r>
            <a:r>
              <a:rPr sz="1200" b="1" i="0">
                <a:solidFill>
                  <a:srgbClr val="1A1C19"/>
                </a:solidFill>
                <a:latin typeface="Inter"/>
              </a:rPr>
              <a:t>Prolific</a:t>
            </a:r>
            <a:r>
              <a:rPr sz="1200" b="0" i="0">
                <a:solidFill>
                  <a:srgbClr val="444A46"/>
                </a:solidFill>
                <a:latin typeface="Inter"/>
              </a:rPr>
              <a:t> — closest analog to our loop; ~43% platform fee</a:t>
            </a:r>
          </a:p>
          <a:p>
            <a:pPr>
              <a:lnSpc>
                <a:spcPct val="108000"/>
              </a:lnSpc>
              <a:spcBef>
                <a:spcPts val="0"/>
              </a:spcBef>
              <a:spcAft>
                <a:spcPts val="700"/>
              </a:spcAft>
            </a:pPr>
            <a:r>
              <a:rPr sz="1200" b="1" i="0">
                <a:solidFill>
                  <a:srgbClr val="006D3D"/>
                </a:solidFill>
                <a:latin typeface="Inter"/>
              </a:rPr>
              <a:t>—  </a:t>
            </a:r>
            <a:r>
              <a:rPr sz="1200" b="1" i="0">
                <a:solidFill>
                  <a:srgbClr val="1A1C19"/>
                </a:solidFill>
                <a:latin typeface="Inter"/>
              </a:rPr>
              <a:t>Appen</a:t>
            </a:r>
            <a:r>
              <a:rPr sz="1200" b="0" i="0">
                <a:solidFill>
                  <a:srgbClr val="444A46"/>
                </a:solidFill>
                <a:latin typeface="Inter"/>
              </a:rPr>
              <a:t> — the cautionary tale: commodity crowd work is collapsing</a:t>
            </a:r>
          </a:p>
        </p:txBody>
      </p:sp>
      <p:sp>
        <p:nvSpPr>
          <p:cNvPr id="20" name="Rounded Rectangle 19"/>
          <p:cNvSpPr/>
          <p:nvPr/>
        </p:nvSpPr>
        <p:spPr>
          <a:xfrm>
            <a:off x="6199632" y="3337560"/>
            <a:ext cx="5349240" cy="2514600"/>
          </a:xfrm>
          <a:prstGeom prst="roundRect">
            <a:avLst>
              <a:gd name="adj" fmla="val 6000"/>
            </a:avLst>
          </a:prstGeom>
          <a:solidFill>
            <a:srgbClr val="E7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73952" y="3520440"/>
            <a:ext cx="4846320" cy="365760"/>
          </a:xfrm>
          <a:prstGeom prst="rect">
            <a:avLst/>
          </a:prstGeom>
          <a:noFill/>
        </p:spPr>
        <p:txBody>
          <a:bodyPr wrap="square" anchor="t" lIns="0" rIns="0" tIns="0" bIns="0">
            <a:spAutoFit/>
          </a:bodyPr>
          <a:lstStyle/>
          <a:p>
            <a:pPr algn="l">
              <a:lnSpc>
                <a:spcPct val="105000"/>
              </a:lnSpc>
              <a:spcBef>
                <a:spcPts val="0"/>
              </a:spcBef>
              <a:spcAft>
                <a:spcPts val="0"/>
              </a:spcAft>
            </a:pPr>
            <a:r>
              <a:rPr sz="1400" b="1" i="0">
                <a:solidFill>
                  <a:srgbClr val="006D3D"/>
                </a:solidFill>
                <a:latin typeface="Manrope"/>
              </a:rPr>
              <a:t>Centient's lane</a:t>
            </a:r>
          </a:p>
        </p:txBody>
      </p:sp>
      <p:sp>
        <p:nvSpPr>
          <p:cNvPr id="22" name="TextBox 21"/>
          <p:cNvSpPr txBox="1"/>
          <p:nvPr/>
        </p:nvSpPr>
        <p:spPr>
          <a:xfrm>
            <a:off x="6473952" y="3931920"/>
            <a:ext cx="4892040" cy="4572000"/>
          </a:xfrm>
          <a:prstGeom prst="rect">
            <a:avLst/>
          </a:prstGeom>
          <a:noFill/>
        </p:spPr>
        <p:txBody>
          <a:bodyPr wrap="square" lIns="0" tIns="0" rIns="0">
            <a:spAutoFit/>
          </a:bodyPr>
          <a:lstStyle/>
          <a:p>
            <a:pPr>
              <a:lnSpc>
                <a:spcPct val="108000"/>
              </a:lnSpc>
              <a:spcBef>
                <a:spcPts val="0"/>
              </a:spcBef>
              <a:spcAft>
                <a:spcPts val="700"/>
              </a:spcAft>
            </a:pPr>
            <a:r>
              <a:rPr sz="1200" b="1" i="0">
                <a:solidFill>
                  <a:srgbClr val="006D3D"/>
                </a:solidFill>
                <a:latin typeface="Inter"/>
              </a:rPr>
              <a:t>—  </a:t>
            </a:r>
            <a:r>
              <a:rPr sz="1200" b="1" i="0">
                <a:solidFill>
                  <a:srgbClr val="1A1C19"/>
                </a:solidFill>
                <a:latin typeface="Inter"/>
              </a:rPr>
              <a:t>High-volume preference micro-tasks</a:t>
            </a:r>
            <a:r>
              <a:rPr sz="1200" b="0" i="0">
                <a:solidFill>
                  <a:srgbClr val="444A46"/>
                </a:solidFill>
                <a:latin typeface="Inter"/>
              </a:rPr>
              <a:t> — not $150/hr expert-only work</a:t>
            </a:r>
          </a:p>
          <a:p>
            <a:pPr>
              <a:lnSpc>
                <a:spcPct val="108000"/>
              </a:lnSpc>
              <a:spcBef>
                <a:spcPts val="0"/>
              </a:spcBef>
              <a:spcAft>
                <a:spcPts val="700"/>
              </a:spcAft>
            </a:pPr>
            <a:r>
              <a:rPr sz="1200" b="1" i="0">
                <a:solidFill>
                  <a:srgbClr val="006D3D"/>
                </a:solidFill>
                <a:latin typeface="Inter"/>
              </a:rPr>
              <a:t>—  </a:t>
            </a:r>
            <a:r>
              <a:rPr sz="1200" b="1" i="0">
                <a:solidFill>
                  <a:srgbClr val="1A1C19"/>
                </a:solidFill>
                <a:latin typeface="Inter"/>
              </a:rPr>
              <a:t>Paid in real USDC</a:t>
            </a:r>
            <a:r>
              <a:rPr sz="1200" b="0" i="0">
                <a:solidFill>
                  <a:srgbClr val="444A46"/>
                </a:solidFill>
                <a:latin typeface="Inter"/>
              </a:rPr>
              <a:t> — not a volatile governance/DePIN token</a:t>
            </a:r>
          </a:p>
          <a:p>
            <a:pPr>
              <a:lnSpc>
                <a:spcPct val="108000"/>
              </a:lnSpc>
              <a:spcBef>
                <a:spcPts val="0"/>
              </a:spcBef>
              <a:spcAft>
                <a:spcPts val="700"/>
              </a:spcAft>
            </a:pPr>
            <a:r>
              <a:rPr sz="1200" b="1" i="0">
                <a:solidFill>
                  <a:srgbClr val="006D3D"/>
                </a:solidFill>
                <a:latin typeface="Inter"/>
              </a:rPr>
              <a:t>—  </a:t>
            </a:r>
            <a:r>
              <a:rPr sz="1200" b="1" i="0">
                <a:solidFill>
                  <a:srgbClr val="1A1C19"/>
                </a:solidFill>
                <a:latin typeface="Inter"/>
              </a:rPr>
              <a:t>Emerging-market crowd</a:t>
            </a:r>
            <a:r>
              <a:rPr sz="1200" b="0" i="0">
                <a:solidFill>
                  <a:srgbClr val="444A46"/>
                </a:solidFill>
                <a:latin typeface="Inter"/>
              </a:rPr>
              <a:t> — reached via Stellar's cash-out rails</a:t>
            </a:r>
          </a:p>
          <a:p>
            <a:pPr>
              <a:lnSpc>
                <a:spcPct val="108000"/>
              </a:lnSpc>
              <a:spcBef>
                <a:spcPts val="0"/>
              </a:spcBef>
              <a:spcAft>
                <a:spcPts val="700"/>
              </a:spcAft>
            </a:pPr>
            <a:r>
              <a:rPr sz="1200" b="1" i="0">
                <a:solidFill>
                  <a:srgbClr val="006D3D"/>
                </a:solidFill>
                <a:latin typeface="Inter"/>
              </a:rPr>
              <a:t>—  </a:t>
            </a:r>
            <a:r>
              <a:rPr sz="1200" b="1" i="0">
                <a:solidFill>
                  <a:srgbClr val="1A1C19"/>
                </a:solidFill>
                <a:latin typeface="Inter"/>
              </a:rPr>
              <a:t>Transparent &amp; instant</a:t>
            </a:r>
            <a:r>
              <a:rPr sz="1200" b="0" i="0">
                <a:solidFill>
                  <a:srgbClr val="444A46"/>
                </a:solidFill>
                <a:latin typeface="Inter"/>
              </a:rPr>
              <a:t> — the ethics wedge incumbents can't claim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66928"/>
            <a:ext cx="384048" cy="82296"/>
          </a:xfrm>
          <a:prstGeom prst="rect">
            <a:avLst/>
          </a:prstGeom>
          <a:solidFill>
            <a:srgbClr val="006D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457200"/>
            <a:ext cx="8229600" cy="320040"/>
          </a:xfrm>
          <a:prstGeom prst="rect">
            <a:avLst/>
          </a:prstGeom>
          <a:noFill/>
        </p:spPr>
        <p:txBody>
          <a:bodyPr wrap="square" anchor="t" lIns="0" rIns="0" tIns="0" bIns="0">
            <a:spAutoFit/>
          </a:bodyPr>
          <a:lstStyle/>
          <a:p>
            <a:pPr algn="l">
              <a:lnSpc>
                <a:spcPct val="105000"/>
              </a:lnSpc>
              <a:spcBef>
                <a:spcPts val="0"/>
              </a:spcBef>
              <a:spcAft>
                <a:spcPts val="0"/>
              </a:spcAft>
            </a:pPr>
            <a:r>
              <a:rPr sz="1300" b="1" i="0">
                <a:solidFill>
                  <a:srgbClr val="006D3D"/>
                </a:solidFill>
                <a:latin typeface="Inter"/>
              </a:rPr>
              <a:t>BUSINESS MODEL</a:t>
            </a:r>
          </a:p>
        </p:txBody>
      </p:sp>
      <p:sp>
        <p:nvSpPr>
          <p:cNvPr id="5" name="TextBox 4"/>
          <p:cNvSpPr txBox="1"/>
          <p:nvPr/>
        </p:nvSpPr>
        <p:spPr>
          <a:xfrm>
            <a:off x="640080" y="6455664"/>
            <a:ext cx="3657600" cy="274320"/>
          </a:xfrm>
          <a:prstGeom prst="rect">
            <a:avLst/>
          </a:prstGeom>
          <a:noFill/>
        </p:spPr>
        <p:txBody>
          <a:bodyPr wrap="square" anchor="t" lIns="0" rIns="0" tIns="0" bIns="0">
            <a:spAutoFit/>
          </a:bodyPr>
          <a:lstStyle/>
          <a:p>
            <a:pPr algn="l">
              <a:lnSpc>
                <a:spcPct val="105000"/>
              </a:lnSpc>
              <a:spcBef>
                <a:spcPts val="0"/>
              </a:spcBef>
              <a:spcAft>
                <a:spcPts val="0"/>
              </a:spcAft>
            </a:pPr>
            <a:r>
              <a:rPr sz="900" b="1" i="0">
                <a:solidFill>
                  <a:srgbClr val="006D3D"/>
                </a:solidFill>
                <a:latin typeface="Manrope"/>
              </a:rPr>
              <a:t>Centient</a:t>
            </a:r>
            <a:r>
              <a:rPr sz="900" b="0" i="0">
                <a:solidFill>
                  <a:srgbClr val="444A46"/>
                </a:solidFill>
                <a:latin typeface="Inter"/>
              </a:rPr>
              <a:t>  ·  Train AI, cent by cent.</a:t>
            </a:r>
          </a:p>
        </p:txBody>
      </p:sp>
      <p:sp>
        <p:nvSpPr>
          <p:cNvPr id="6" name="TextBox 5"/>
          <p:cNvSpPr txBox="1"/>
          <p:nvPr/>
        </p:nvSpPr>
        <p:spPr>
          <a:xfrm>
            <a:off x="10424160" y="6455664"/>
            <a:ext cx="1097280" cy="274320"/>
          </a:xfrm>
          <a:prstGeom prst="rect">
            <a:avLst/>
          </a:prstGeom>
          <a:noFill/>
        </p:spPr>
        <p:txBody>
          <a:bodyPr wrap="square" anchor="t" lIns="0" rIns="0" tIns="0" bIns="0">
            <a:spAutoFit/>
          </a:bodyPr>
          <a:lstStyle/>
          <a:p>
            <a:pPr algn="r">
              <a:lnSpc>
                <a:spcPct val="105000"/>
              </a:lnSpc>
              <a:spcBef>
                <a:spcPts val="0"/>
              </a:spcBef>
              <a:spcAft>
                <a:spcPts val="0"/>
              </a:spcAft>
            </a:pPr>
            <a:r>
              <a:rPr sz="900" b="1" i="0">
                <a:solidFill>
                  <a:srgbClr val="444A46"/>
                </a:solidFill>
                <a:latin typeface="Inter"/>
              </a:rPr>
              <a:t>09</a:t>
            </a:r>
          </a:p>
        </p:txBody>
      </p:sp>
      <p:sp>
        <p:nvSpPr>
          <p:cNvPr id="7" name="TextBox 6"/>
          <p:cNvSpPr txBox="1"/>
          <p:nvPr/>
        </p:nvSpPr>
        <p:spPr>
          <a:xfrm>
            <a:off x="640080" y="841248"/>
            <a:ext cx="10881360" cy="914400"/>
          </a:xfrm>
          <a:prstGeom prst="rect">
            <a:avLst/>
          </a:prstGeom>
          <a:noFill/>
        </p:spPr>
        <p:txBody>
          <a:bodyPr wrap="square" anchor="t" lIns="0" rIns="0" tIns="0" bIns="0">
            <a:spAutoFit/>
          </a:bodyPr>
          <a:lstStyle/>
          <a:p>
            <a:pPr algn="l">
              <a:lnSpc>
                <a:spcPct val="100000"/>
              </a:lnSpc>
              <a:spcBef>
                <a:spcPts val="0"/>
              </a:spcBef>
              <a:spcAft>
                <a:spcPts val="0"/>
              </a:spcAft>
            </a:pPr>
            <a:r>
              <a:rPr sz="3000" b="1" i="0">
                <a:solidFill>
                  <a:srgbClr val="1A1C19"/>
                </a:solidFill>
                <a:latin typeface="Manrope"/>
              </a:rPr>
              <a:t>We take a margin on funded work — and climb the value chain</a:t>
            </a:r>
          </a:p>
        </p:txBody>
      </p:sp>
      <p:sp>
        <p:nvSpPr>
          <p:cNvPr id="8" name="Rounded Rectangle 7"/>
          <p:cNvSpPr/>
          <p:nvPr/>
        </p:nvSpPr>
        <p:spPr>
          <a:xfrm>
            <a:off x="640080" y="1737360"/>
            <a:ext cx="3566160" cy="2468880"/>
          </a:xfrm>
          <a:prstGeom prst="roundRect">
            <a:avLst>
              <a:gd name="adj" fmla="val 6000"/>
            </a:avLst>
          </a:prstGeom>
          <a:solidFill>
            <a:srgbClr val="FFFFFF"/>
          </a:solidFill>
          <a:ln w="12700">
            <a:solidFill>
              <a:srgbClr val="D7DD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1737360"/>
            <a:ext cx="82296" cy="2468880"/>
          </a:xfrm>
          <a:prstGeom prst="rect">
            <a:avLst/>
          </a:prstGeom>
          <a:solidFill>
            <a:srgbClr val="785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1938528"/>
            <a:ext cx="3200400" cy="274320"/>
          </a:xfrm>
          <a:prstGeom prst="rect">
            <a:avLst/>
          </a:prstGeom>
          <a:noFill/>
        </p:spPr>
        <p:txBody>
          <a:bodyPr wrap="square" anchor="t" lIns="0" rIns="0" tIns="0" bIns="0">
            <a:spAutoFit/>
          </a:bodyPr>
          <a:lstStyle/>
          <a:p>
            <a:pPr algn="l">
              <a:lnSpc>
                <a:spcPct val="105000"/>
              </a:lnSpc>
              <a:spcBef>
                <a:spcPts val="0"/>
              </a:spcBef>
              <a:spcAft>
                <a:spcPts val="0"/>
              </a:spcAft>
            </a:pPr>
            <a:r>
              <a:rPr sz="950" b="1" i="0">
                <a:solidFill>
                  <a:srgbClr val="785A00"/>
                </a:solidFill>
                <a:latin typeface="Inter"/>
              </a:rPr>
              <a:t>CORE</a:t>
            </a:r>
          </a:p>
        </p:txBody>
      </p:sp>
      <p:sp>
        <p:nvSpPr>
          <p:cNvPr id="11" name="TextBox 10"/>
          <p:cNvSpPr txBox="1"/>
          <p:nvPr/>
        </p:nvSpPr>
        <p:spPr>
          <a:xfrm>
            <a:off x="859536" y="2212848"/>
            <a:ext cx="3200400" cy="365760"/>
          </a:xfrm>
          <a:prstGeom prst="rect">
            <a:avLst/>
          </a:prstGeom>
          <a:noFill/>
        </p:spPr>
        <p:txBody>
          <a:bodyPr wrap="square" anchor="t" lIns="0" rIns="0" tIns="0" bIns="0">
            <a:spAutoFit/>
          </a:bodyPr>
          <a:lstStyle/>
          <a:p>
            <a:pPr algn="l">
              <a:lnSpc>
                <a:spcPct val="100000"/>
              </a:lnSpc>
              <a:spcBef>
                <a:spcPts val="0"/>
              </a:spcBef>
              <a:spcAft>
                <a:spcPts val="0"/>
              </a:spcAft>
            </a:pPr>
            <a:r>
              <a:rPr sz="1400" b="1" i="0">
                <a:solidFill>
                  <a:srgbClr val="1A1C19"/>
                </a:solidFill>
                <a:latin typeface="Manrope"/>
              </a:rPr>
              <a:t>Campaign take-rate</a:t>
            </a:r>
          </a:p>
        </p:txBody>
      </p:sp>
      <p:sp>
        <p:nvSpPr>
          <p:cNvPr id="12" name="TextBox 11"/>
          <p:cNvSpPr txBox="1"/>
          <p:nvPr/>
        </p:nvSpPr>
        <p:spPr>
          <a:xfrm>
            <a:off x="859536" y="2596896"/>
            <a:ext cx="3182112" cy="1536192"/>
          </a:xfrm>
          <a:prstGeom prst="rect">
            <a:avLst/>
          </a:prstGeom>
          <a:noFill/>
        </p:spPr>
        <p:txBody>
          <a:bodyPr wrap="square" anchor="t" lIns="0" rIns="0" tIns="0" bIns="0">
            <a:spAutoFit/>
          </a:bodyPr>
          <a:lstStyle/>
          <a:p>
            <a:pPr algn="l">
              <a:lnSpc>
                <a:spcPct val="106000"/>
              </a:lnSpc>
              <a:spcBef>
                <a:spcPts val="0"/>
              </a:spcBef>
              <a:spcAft>
                <a:spcPts val="0"/>
              </a:spcAft>
            </a:pPr>
            <a:r>
              <a:rPr sz="1150" b="0" i="0">
                <a:solidFill>
                  <a:srgbClr val="444A46"/>
                </a:solidFill>
                <a:latin typeface="Inter"/>
              </a:rPr>
              <a:t>Primary line. Customers fund USDC campaigns; we skim a platform fee on every approved answer. Revenue scales with GMV, not headcount (peers take 35–43%).</a:t>
            </a:r>
          </a:p>
        </p:txBody>
      </p:sp>
      <p:sp>
        <p:nvSpPr>
          <p:cNvPr id="13" name="Rounded Rectangle 12"/>
          <p:cNvSpPr/>
          <p:nvPr/>
        </p:nvSpPr>
        <p:spPr>
          <a:xfrm>
            <a:off x="4343400" y="1737360"/>
            <a:ext cx="3566160" cy="2468880"/>
          </a:xfrm>
          <a:prstGeom prst="roundRect">
            <a:avLst>
              <a:gd name="adj" fmla="val 6000"/>
            </a:avLst>
          </a:prstGeom>
          <a:solidFill>
            <a:srgbClr val="FFFFFF"/>
          </a:solidFill>
          <a:ln w="12700">
            <a:solidFill>
              <a:srgbClr val="D7DD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43400" y="1737360"/>
            <a:ext cx="82296" cy="2468880"/>
          </a:xfrm>
          <a:prstGeom prst="rect">
            <a:avLst/>
          </a:prstGeom>
          <a:solidFill>
            <a:srgbClr val="006D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62856" y="1938528"/>
            <a:ext cx="3200400" cy="274320"/>
          </a:xfrm>
          <a:prstGeom prst="rect">
            <a:avLst/>
          </a:prstGeom>
          <a:noFill/>
        </p:spPr>
        <p:txBody>
          <a:bodyPr wrap="square" anchor="t" lIns="0" rIns="0" tIns="0" bIns="0">
            <a:spAutoFit/>
          </a:bodyPr>
          <a:lstStyle/>
          <a:p>
            <a:pPr algn="l">
              <a:lnSpc>
                <a:spcPct val="105000"/>
              </a:lnSpc>
              <a:spcBef>
                <a:spcPts val="0"/>
              </a:spcBef>
              <a:spcAft>
                <a:spcPts val="0"/>
              </a:spcAft>
            </a:pPr>
            <a:r>
              <a:rPr sz="950" b="1" i="0">
                <a:solidFill>
                  <a:srgbClr val="006D3D"/>
                </a:solidFill>
                <a:latin typeface="Inter"/>
              </a:rPr>
              <a:t>EXPANSION</a:t>
            </a:r>
          </a:p>
        </p:txBody>
      </p:sp>
      <p:sp>
        <p:nvSpPr>
          <p:cNvPr id="16" name="TextBox 15"/>
          <p:cNvSpPr txBox="1"/>
          <p:nvPr/>
        </p:nvSpPr>
        <p:spPr>
          <a:xfrm>
            <a:off x="4562856" y="2212848"/>
            <a:ext cx="3200400" cy="365760"/>
          </a:xfrm>
          <a:prstGeom prst="rect">
            <a:avLst/>
          </a:prstGeom>
          <a:noFill/>
        </p:spPr>
        <p:txBody>
          <a:bodyPr wrap="square" anchor="t" lIns="0" rIns="0" tIns="0" bIns="0">
            <a:spAutoFit/>
          </a:bodyPr>
          <a:lstStyle/>
          <a:p>
            <a:pPr algn="l">
              <a:lnSpc>
                <a:spcPct val="100000"/>
              </a:lnSpc>
              <a:spcBef>
                <a:spcPts val="0"/>
              </a:spcBef>
              <a:spcAft>
                <a:spcPts val="0"/>
              </a:spcAft>
            </a:pPr>
            <a:r>
              <a:rPr sz="1400" b="1" i="0">
                <a:solidFill>
                  <a:srgbClr val="1A1C19"/>
                </a:solidFill>
                <a:latin typeface="Manrope"/>
              </a:rPr>
              <a:t>Quality tiers</a:t>
            </a:r>
          </a:p>
        </p:txBody>
      </p:sp>
      <p:sp>
        <p:nvSpPr>
          <p:cNvPr id="17" name="TextBox 16"/>
          <p:cNvSpPr txBox="1"/>
          <p:nvPr/>
        </p:nvSpPr>
        <p:spPr>
          <a:xfrm>
            <a:off x="4562856" y="2596896"/>
            <a:ext cx="3182112" cy="1536192"/>
          </a:xfrm>
          <a:prstGeom prst="rect">
            <a:avLst/>
          </a:prstGeom>
          <a:noFill/>
        </p:spPr>
        <p:txBody>
          <a:bodyPr wrap="square" anchor="t" lIns="0" rIns="0" tIns="0" bIns="0">
            <a:spAutoFit/>
          </a:bodyPr>
          <a:lstStyle/>
          <a:p>
            <a:pPr algn="l">
              <a:lnSpc>
                <a:spcPct val="106000"/>
              </a:lnSpc>
              <a:spcBef>
                <a:spcPts val="0"/>
              </a:spcBef>
              <a:spcAft>
                <a:spcPts val="0"/>
              </a:spcAft>
            </a:pPr>
            <a:r>
              <a:rPr sz="1150" b="0" i="0">
                <a:solidFill>
                  <a:srgbClr val="444A46"/>
                </a:solidFill>
                <a:latin typeface="Inter"/>
              </a:rPr>
              <a:t>Bronze / Silver / Gold (single-review → consensus → expert-verified) priced up the stack — monetizes both commodity and premium data.</a:t>
            </a:r>
          </a:p>
        </p:txBody>
      </p:sp>
      <p:sp>
        <p:nvSpPr>
          <p:cNvPr id="18" name="Rounded Rectangle 17"/>
          <p:cNvSpPr/>
          <p:nvPr/>
        </p:nvSpPr>
        <p:spPr>
          <a:xfrm>
            <a:off x="8046720" y="1737360"/>
            <a:ext cx="3566160" cy="2468880"/>
          </a:xfrm>
          <a:prstGeom prst="roundRect">
            <a:avLst>
              <a:gd name="adj" fmla="val 6000"/>
            </a:avLst>
          </a:prstGeom>
          <a:solidFill>
            <a:srgbClr val="FFFFFF"/>
          </a:solidFill>
          <a:ln w="12700">
            <a:solidFill>
              <a:srgbClr val="D7DD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46720" y="1737360"/>
            <a:ext cx="82296" cy="2468880"/>
          </a:xfrm>
          <a:prstGeom prst="rect">
            <a:avLst/>
          </a:prstGeom>
          <a:solidFill>
            <a:srgbClr val="0054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66176" y="1938528"/>
            <a:ext cx="3200400" cy="274320"/>
          </a:xfrm>
          <a:prstGeom prst="rect">
            <a:avLst/>
          </a:prstGeom>
          <a:noFill/>
        </p:spPr>
        <p:txBody>
          <a:bodyPr wrap="square" anchor="t" lIns="0" rIns="0" tIns="0" bIns="0">
            <a:spAutoFit/>
          </a:bodyPr>
          <a:lstStyle/>
          <a:p>
            <a:pPr algn="l">
              <a:lnSpc>
                <a:spcPct val="105000"/>
              </a:lnSpc>
              <a:spcBef>
                <a:spcPts val="0"/>
              </a:spcBef>
              <a:spcAft>
                <a:spcPts val="0"/>
              </a:spcAft>
            </a:pPr>
            <a:r>
              <a:rPr sz="950" b="1" i="0">
                <a:solidFill>
                  <a:srgbClr val="00542D"/>
                </a:solidFill>
                <a:latin typeface="Inter"/>
              </a:rPr>
              <a:t>SCALE</a:t>
            </a:r>
          </a:p>
        </p:txBody>
      </p:sp>
      <p:sp>
        <p:nvSpPr>
          <p:cNvPr id="21" name="TextBox 20"/>
          <p:cNvSpPr txBox="1"/>
          <p:nvPr/>
        </p:nvSpPr>
        <p:spPr>
          <a:xfrm>
            <a:off x="8266176" y="2212848"/>
            <a:ext cx="3200400" cy="365760"/>
          </a:xfrm>
          <a:prstGeom prst="rect">
            <a:avLst/>
          </a:prstGeom>
          <a:noFill/>
        </p:spPr>
        <p:txBody>
          <a:bodyPr wrap="square" anchor="t" lIns="0" rIns="0" tIns="0" bIns="0">
            <a:spAutoFit/>
          </a:bodyPr>
          <a:lstStyle/>
          <a:p>
            <a:pPr algn="l">
              <a:lnSpc>
                <a:spcPct val="100000"/>
              </a:lnSpc>
              <a:spcBef>
                <a:spcPts val="0"/>
              </a:spcBef>
              <a:spcAft>
                <a:spcPts val="0"/>
              </a:spcAft>
            </a:pPr>
            <a:r>
              <a:rPr sz="1400" b="1" i="0">
                <a:solidFill>
                  <a:srgbClr val="1A1C19"/>
                </a:solidFill>
                <a:latin typeface="Manrope"/>
              </a:rPr>
              <a:t>Enterprise API</a:t>
            </a:r>
          </a:p>
        </p:txBody>
      </p:sp>
      <p:sp>
        <p:nvSpPr>
          <p:cNvPr id="22" name="TextBox 21"/>
          <p:cNvSpPr txBox="1"/>
          <p:nvPr/>
        </p:nvSpPr>
        <p:spPr>
          <a:xfrm>
            <a:off x="8266176" y="2596896"/>
            <a:ext cx="3182112" cy="1536192"/>
          </a:xfrm>
          <a:prstGeom prst="rect">
            <a:avLst/>
          </a:prstGeom>
          <a:noFill/>
        </p:spPr>
        <p:txBody>
          <a:bodyPr wrap="square" anchor="t" lIns="0" rIns="0" tIns="0" bIns="0">
            <a:spAutoFit/>
          </a:bodyPr>
          <a:lstStyle/>
          <a:p>
            <a:pPr algn="l">
              <a:lnSpc>
                <a:spcPct val="106000"/>
              </a:lnSpc>
              <a:spcBef>
                <a:spcPts val="0"/>
              </a:spcBef>
              <a:spcAft>
                <a:spcPts val="0"/>
              </a:spcAft>
            </a:pPr>
            <a:r>
              <a:rPr sz="1150" b="0" i="0">
                <a:solidFill>
                  <a:srgbClr val="444A46"/>
                </a:solidFill>
                <a:latin typeface="Inter"/>
              </a:rPr>
              <a:t>Programmatic job submission + USDC auto-funding for AI labs and, later, autonomous agents (x402). Recurring, high-volume contracts.</a:t>
            </a:r>
          </a:p>
        </p:txBody>
      </p:sp>
      <p:sp>
        <p:nvSpPr>
          <p:cNvPr id="23" name="Rounded Rectangle 22"/>
          <p:cNvSpPr/>
          <p:nvPr/>
        </p:nvSpPr>
        <p:spPr>
          <a:xfrm>
            <a:off x="640080" y="4480560"/>
            <a:ext cx="10908792" cy="1371600"/>
          </a:xfrm>
          <a:prstGeom prst="roundRect">
            <a:avLst>
              <a:gd name="adj" fmla="val 6000"/>
            </a:avLst>
          </a:prstGeom>
          <a:solidFill>
            <a:srgbClr val="E7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4681728"/>
            <a:ext cx="10332720" cy="1097280"/>
          </a:xfrm>
          <a:prstGeom prst="rect">
            <a:avLst/>
          </a:prstGeom>
          <a:noFill/>
        </p:spPr>
        <p:txBody>
          <a:bodyPr wrap="square" anchor="t" lIns="0" rIns="0" tIns="0" bIns="0">
            <a:spAutoFit/>
          </a:bodyPr>
          <a:lstStyle/>
          <a:p>
            <a:pPr algn="l">
              <a:lnSpc>
                <a:spcPct val="112000"/>
              </a:lnSpc>
              <a:spcBef>
                <a:spcPts val="0"/>
              </a:spcBef>
              <a:spcAft>
                <a:spcPts val="400"/>
              </a:spcAft>
            </a:pPr>
            <a:r>
              <a:rPr sz="1400" b="1" i="0">
                <a:solidFill>
                  <a:srgbClr val="006D3D"/>
                </a:solidFill>
                <a:latin typeface="Manrope"/>
              </a:rPr>
              <a:t>Non-dilutive fuel:  </a:t>
            </a:r>
            <a:r>
              <a:rPr sz="1300" b="0" i="0">
                <a:solidFill>
                  <a:srgbClr val="1A1C19"/>
                </a:solidFill>
                <a:latin typeface="Inter"/>
              </a:rPr>
              <a:t>Stellar Community Fund (Build → Integration track, up to $150K XLM) — our SDP/sponsored-trustline integrations map directly onto what SCF 7.0 rewards. </a:t>
            </a:r>
          </a:p>
          <a:p>
            <a:pPr algn="l">
              <a:lnSpc>
                <a:spcPct val="112000"/>
              </a:lnSpc>
              <a:spcBef>
                <a:spcPts val="0"/>
              </a:spcBef>
              <a:spcAft>
                <a:spcPts val="400"/>
              </a:spcAft>
            </a:pPr>
            <a:r>
              <a:rPr sz="1250" b="0" i="0">
                <a:solidFill>
                  <a:srgbClr val="444A46"/>
                </a:solidFill>
                <a:latin typeface="Inter"/>
              </a:rPr>
              <a:t>The Matching Fund (up to $500K) backs a priced round. We avoid a speculative token — trust in “real USDC, instantly” is the moat.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66928"/>
            <a:ext cx="384048" cy="82296"/>
          </a:xfrm>
          <a:prstGeom prst="rect">
            <a:avLst/>
          </a:prstGeom>
          <a:solidFill>
            <a:srgbClr val="785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457200"/>
            <a:ext cx="8229600" cy="320040"/>
          </a:xfrm>
          <a:prstGeom prst="rect">
            <a:avLst/>
          </a:prstGeom>
          <a:noFill/>
        </p:spPr>
        <p:txBody>
          <a:bodyPr wrap="square" anchor="t" lIns="0" rIns="0" tIns="0" bIns="0">
            <a:spAutoFit/>
          </a:bodyPr>
          <a:lstStyle/>
          <a:p>
            <a:pPr algn="l">
              <a:lnSpc>
                <a:spcPct val="105000"/>
              </a:lnSpc>
              <a:spcBef>
                <a:spcPts val="0"/>
              </a:spcBef>
              <a:spcAft>
                <a:spcPts val="0"/>
              </a:spcAft>
            </a:pPr>
            <a:r>
              <a:rPr sz="1300" b="1" i="0">
                <a:solidFill>
                  <a:srgbClr val="785A00"/>
                </a:solidFill>
                <a:latin typeface="Inter"/>
              </a:rPr>
              <a:t>GO-TO-MARKET</a:t>
            </a:r>
          </a:p>
        </p:txBody>
      </p:sp>
      <p:sp>
        <p:nvSpPr>
          <p:cNvPr id="5" name="TextBox 4"/>
          <p:cNvSpPr txBox="1"/>
          <p:nvPr/>
        </p:nvSpPr>
        <p:spPr>
          <a:xfrm>
            <a:off x="640080" y="6455664"/>
            <a:ext cx="3657600" cy="274320"/>
          </a:xfrm>
          <a:prstGeom prst="rect">
            <a:avLst/>
          </a:prstGeom>
          <a:noFill/>
        </p:spPr>
        <p:txBody>
          <a:bodyPr wrap="square" anchor="t" lIns="0" rIns="0" tIns="0" bIns="0">
            <a:spAutoFit/>
          </a:bodyPr>
          <a:lstStyle/>
          <a:p>
            <a:pPr algn="l">
              <a:lnSpc>
                <a:spcPct val="105000"/>
              </a:lnSpc>
              <a:spcBef>
                <a:spcPts val="0"/>
              </a:spcBef>
              <a:spcAft>
                <a:spcPts val="0"/>
              </a:spcAft>
            </a:pPr>
            <a:r>
              <a:rPr sz="900" b="1" i="0">
                <a:solidFill>
                  <a:srgbClr val="006D3D"/>
                </a:solidFill>
                <a:latin typeface="Manrope"/>
              </a:rPr>
              <a:t>Centient</a:t>
            </a:r>
            <a:r>
              <a:rPr sz="900" b="0" i="0">
                <a:solidFill>
                  <a:srgbClr val="444A46"/>
                </a:solidFill>
                <a:latin typeface="Inter"/>
              </a:rPr>
              <a:t>  ·  Train AI, cent by cent.</a:t>
            </a:r>
          </a:p>
        </p:txBody>
      </p:sp>
      <p:sp>
        <p:nvSpPr>
          <p:cNvPr id="6" name="TextBox 5"/>
          <p:cNvSpPr txBox="1"/>
          <p:nvPr/>
        </p:nvSpPr>
        <p:spPr>
          <a:xfrm>
            <a:off x="10424160" y="6455664"/>
            <a:ext cx="1097280" cy="274320"/>
          </a:xfrm>
          <a:prstGeom prst="rect">
            <a:avLst/>
          </a:prstGeom>
          <a:noFill/>
        </p:spPr>
        <p:txBody>
          <a:bodyPr wrap="square" anchor="t" lIns="0" rIns="0" tIns="0" bIns="0">
            <a:spAutoFit/>
          </a:bodyPr>
          <a:lstStyle/>
          <a:p>
            <a:pPr algn="r">
              <a:lnSpc>
                <a:spcPct val="105000"/>
              </a:lnSpc>
              <a:spcBef>
                <a:spcPts val="0"/>
              </a:spcBef>
              <a:spcAft>
                <a:spcPts val="0"/>
              </a:spcAft>
            </a:pPr>
            <a:r>
              <a:rPr sz="900" b="1" i="0">
                <a:solidFill>
                  <a:srgbClr val="444A46"/>
                </a:solidFill>
                <a:latin typeface="Inter"/>
              </a:rPr>
              <a:t>10</a:t>
            </a:r>
          </a:p>
        </p:txBody>
      </p:sp>
      <p:sp>
        <p:nvSpPr>
          <p:cNvPr id="7" name="TextBox 6"/>
          <p:cNvSpPr txBox="1"/>
          <p:nvPr/>
        </p:nvSpPr>
        <p:spPr>
          <a:xfrm>
            <a:off x="640080" y="841248"/>
            <a:ext cx="10881360" cy="914400"/>
          </a:xfrm>
          <a:prstGeom prst="rect">
            <a:avLst/>
          </a:prstGeom>
          <a:noFill/>
        </p:spPr>
        <p:txBody>
          <a:bodyPr wrap="square" anchor="t" lIns="0" rIns="0" tIns="0" bIns="0">
            <a:spAutoFit/>
          </a:bodyPr>
          <a:lstStyle/>
          <a:p>
            <a:pPr algn="l">
              <a:lnSpc>
                <a:spcPct val="100000"/>
              </a:lnSpc>
              <a:spcBef>
                <a:spcPts val="0"/>
              </a:spcBef>
              <a:spcAft>
                <a:spcPts val="0"/>
              </a:spcAft>
            </a:pPr>
            <a:r>
              <a:rPr sz="3000" b="1" i="0">
                <a:solidFill>
                  <a:srgbClr val="1A1C19"/>
                </a:solidFill>
                <a:latin typeface="Manrope"/>
              </a:rPr>
              <a:t>Land in the Philippines, expand across APAC, scale globally</a:t>
            </a:r>
          </a:p>
        </p:txBody>
      </p:sp>
      <p:sp>
        <p:nvSpPr>
          <p:cNvPr id="8" name="Rounded Rectangle 7"/>
          <p:cNvSpPr/>
          <p:nvPr/>
        </p:nvSpPr>
        <p:spPr>
          <a:xfrm>
            <a:off x="640080" y="1664208"/>
            <a:ext cx="3602736" cy="4206240"/>
          </a:xfrm>
          <a:prstGeom prst="roundRect">
            <a:avLst>
              <a:gd name="adj" fmla="val 6000"/>
            </a:avLst>
          </a:prstGeom>
          <a:solidFill>
            <a:srgbClr val="FFFFFF"/>
          </a:solidFill>
          <a:ln w="12700">
            <a:solidFill>
              <a:srgbClr val="D7DD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1664208"/>
            <a:ext cx="3602736" cy="868680"/>
          </a:xfrm>
          <a:prstGeom prst="rect">
            <a:avLst/>
          </a:prstGeom>
          <a:solidFill>
            <a:srgbClr val="006D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1773936"/>
            <a:ext cx="3236976" cy="274320"/>
          </a:xfrm>
          <a:prstGeom prst="rect">
            <a:avLst/>
          </a:prstGeom>
          <a:noFill/>
        </p:spPr>
        <p:txBody>
          <a:bodyPr wrap="square" anchor="t" lIns="0" rIns="0" tIns="0" bIns="0">
            <a:spAutoFit/>
          </a:bodyPr>
          <a:lstStyle/>
          <a:p>
            <a:pPr algn="l">
              <a:lnSpc>
                <a:spcPct val="105000"/>
              </a:lnSpc>
              <a:spcBef>
                <a:spcPts val="0"/>
              </a:spcBef>
              <a:spcAft>
                <a:spcPts val="0"/>
              </a:spcAft>
            </a:pPr>
            <a:r>
              <a:rPr sz="1050" b="1" i="0">
                <a:solidFill>
                  <a:srgbClr val="DFF3E7"/>
                </a:solidFill>
                <a:latin typeface="Inter"/>
              </a:rPr>
              <a:t>PHASE 1  ·  Beachhead</a:t>
            </a:r>
          </a:p>
        </p:txBody>
      </p:sp>
      <p:sp>
        <p:nvSpPr>
          <p:cNvPr id="11" name="TextBox 10"/>
          <p:cNvSpPr txBox="1"/>
          <p:nvPr/>
        </p:nvSpPr>
        <p:spPr>
          <a:xfrm>
            <a:off x="859536" y="2048256"/>
            <a:ext cx="3236976" cy="411480"/>
          </a:xfrm>
          <a:prstGeom prst="rect">
            <a:avLst/>
          </a:prstGeom>
          <a:noFill/>
        </p:spPr>
        <p:txBody>
          <a:bodyPr wrap="square" anchor="t" lIns="0" rIns="0" tIns="0" bIns="0">
            <a:spAutoFit/>
          </a:bodyPr>
          <a:lstStyle/>
          <a:p>
            <a:pPr algn="l">
              <a:lnSpc>
                <a:spcPct val="105000"/>
              </a:lnSpc>
              <a:spcBef>
                <a:spcPts val="0"/>
              </a:spcBef>
              <a:spcAft>
                <a:spcPts val="0"/>
              </a:spcAft>
            </a:pPr>
            <a:r>
              <a:rPr sz="2100" b="1" i="0">
                <a:solidFill>
                  <a:srgbClr val="FFFFFF"/>
                </a:solidFill>
                <a:latin typeface="Manrope"/>
              </a:rPr>
              <a:t>Philippines</a:t>
            </a:r>
          </a:p>
        </p:txBody>
      </p:sp>
      <p:sp>
        <p:nvSpPr>
          <p:cNvPr id="12" name="TextBox 11"/>
          <p:cNvSpPr txBox="1"/>
          <p:nvPr/>
        </p:nvSpPr>
        <p:spPr>
          <a:xfrm>
            <a:off x="859536" y="2743200"/>
            <a:ext cx="3200400" cy="4572000"/>
          </a:xfrm>
          <a:prstGeom prst="rect">
            <a:avLst/>
          </a:prstGeom>
          <a:noFill/>
        </p:spPr>
        <p:txBody>
          <a:bodyPr wrap="square" lIns="0" tIns="0" rIns="0">
            <a:spAutoFit/>
          </a:bodyPr>
          <a:lstStyle/>
          <a:p>
            <a:pPr>
              <a:lnSpc>
                <a:spcPct val="108000"/>
              </a:lnSpc>
              <a:spcBef>
                <a:spcPts val="0"/>
              </a:spcBef>
              <a:spcAft>
                <a:spcPts val="800"/>
              </a:spcAft>
            </a:pPr>
            <a:r>
              <a:rPr sz="1120" b="1" i="0">
                <a:solidFill>
                  <a:srgbClr val="006D3D"/>
                </a:solidFill>
                <a:latin typeface="Inter"/>
              </a:rPr>
              <a:t>—  </a:t>
            </a:r>
            <a:r>
              <a:rPr sz="1120" b="0" i="0">
                <a:solidFill>
                  <a:srgbClr val="1A1C19"/>
                </a:solidFill>
                <a:latin typeface="Inter"/>
              </a:rPr>
              <a:t>English-fluent, gig/BPO-savvy, high crypto adoption</a:t>
            </a:r>
          </a:p>
          <a:p>
            <a:pPr>
              <a:lnSpc>
                <a:spcPct val="108000"/>
              </a:lnSpc>
              <a:spcBef>
                <a:spcPts val="0"/>
              </a:spcBef>
              <a:spcAft>
                <a:spcPts val="800"/>
              </a:spcAft>
            </a:pPr>
            <a:r>
              <a:rPr sz="1120" b="1" i="0">
                <a:solidFill>
                  <a:srgbClr val="006D3D"/>
                </a:solidFill>
                <a:latin typeface="Inter"/>
              </a:rPr>
              <a:t>—  </a:t>
            </a:r>
            <a:r>
              <a:rPr sz="1120" b="0" i="0">
                <a:solidFill>
                  <a:srgbClr val="1A1C19"/>
                </a:solidFill>
                <a:latin typeface="Inter"/>
              </a:rPr>
              <a:t>Coins.ph &amp; MoneyGram give instant USDC → PHP cash-out</a:t>
            </a:r>
          </a:p>
          <a:p>
            <a:pPr>
              <a:lnSpc>
                <a:spcPct val="108000"/>
              </a:lnSpc>
              <a:spcBef>
                <a:spcPts val="0"/>
              </a:spcBef>
              <a:spcAft>
                <a:spcPts val="800"/>
              </a:spcAft>
            </a:pPr>
            <a:r>
              <a:rPr sz="1120" b="1" i="0">
                <a:solidFill>
                  <a:srgbClr val="006D3D"/>
                </a:solidFill>
                <a:latin typeface="Inter"/>
              </a:rPr>
              <a:t>—  </a:t>
            </a:r>
            <a:r>
              <a:rPr sz="1120" b="0" i="0">
                <a:solidFill>
                  <a:srgbClr val="1A1C19"/>
                </a:solidFill>
                <a:latin typeface="Inter"/>
              </a:rPr>
              <a:t>Seed labelers via student orgs, freelancer &amp; crypto communities</a:t>
            </a:r>
          </a:p>
          <a:p>
            <a:pPr>
              <a:lnSpc>
                <a:spcPct val="108000"/>
              </a:lnSpc>
              <a:spcBef>
                <a:spcPts val="0"/>
              </a:spcBef>
              <a:spcAft>
                <a:spcPts val="800"/>
              </a:spcAft>
            </a:pPr>
            <a:r>
              <a:rPr sz="1120" b="1" i="0">
                <a:solidFill>
                  <a:srgbClr val="006D3D"/>
                </a:solidFill>
                <a:latin typeface="Inter"/>
              </a:rPr>
              <a:t>—  </a:t>
            </a:r>
            <a:r>
              <a:rPr sz="1120" b="0" i="0">
                <a:solidFill>
                  <a:srgbClr val="1A1C19"/>
                </a:solidFill>
                <a:latin typeface="Inter"/>
              </a:rPr>
              <a:t>Prove quality + unit economics with design-partner AI labs</a:t>
            </a:r>
          </a:p>
        </p:txBody>
      </p:sp>
      <p:sp>
        <p:nvSpPr>
          <p:cNvPr id="13" name="Rounded Rectangle 12"/>
          <p:cNvSpPr/>
          <p:nvPr/>
        </p:nvSpPr>
        <p:spPr>
          <a:xfrm>
            <a:off x="4311396" y="1664208"/>
            <a:ext cx="3602736" cy="4206240"/>
          </a:xfrm>
          <a:prstGeom prst="roundRect">
            <a:avLst>
              <a:gd name="adj" fmla="val 6000"/>
            </a:avLst>
          </a:prstGeom>
          <a:solidFill>
            <a:srgbClr val="FFFFFF"/>
          </a:solidFill>
          <a:ln w="12700">
            <a:solidFill>
              <a:srgbClr val="D7DD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11396" y="1664208"/>
            <a:ext cx="3602736" cy="868680"/>
          </a:xfrm>
          <a:prstGeom prst="rect">
            <a:avLst/>
          </a:prstGeom>
          <a:solidFill>
            <a:srgbClr val="785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30852" y="1773936"/>
            <a:ext cx="3236976" cy="274320"/>
          </a:xfrm>
          <a:prstGeom prst="rect">
            <a:avLst/>
          </a:prstGeom>
          <a:noFill/>
        </p:spPr>
        <p:txBody>
          <a:bodyPr wrap="square" anchor="t" lIns="0" rIns="0" tIns="0" bIns="0">
            <a:spAutoFit/>
          </a:bodyPr>
          <a:lstStyle/>
          <a:p>
            <a:pPr algn="l">
              <a:lnSpc>
                <a:spcPct val="105000"/>
              </a:lnSpc>
              <a:spcBef>
                <a:spcPts val="0"/>
              </a:spcBef>
              <a:spcAft>
                <a:spcPts val="0"/>
              </a:spcAft>
            </a:pPr>
            <a:r>
              <a:rPr sz="1050" b="1" i="0">
                <a:solidFill>
                  <a:srgbClr val="DFF3E7"/>
                </a:solidFill>
                <a:latin typeface="Inter"/>
              </a:rPr>
              <a:t>PHASE 2  ·  Expand</a:t>
            </a:r>
          </a:p>
        </p:txBody>
      </p:sp>
      <p:sp>
        <p:nvSpPr>
          <p:cNvPr id="16" name="TextBox 15"/>
          <p:cNvSpPr txBox="1"/>
          <p:nvPr/>
        </p:nvSpPr>
        <p:spPr>
          <a:xfrm>
            <a:off x="4530852" y="2048256"/>
            <a:ext cx="3236976" cy="411480"/>
          </a:xfrm>
          <a:prstGeom prst="rect">
            <a:avLst/>
          </a:prstGeom>
          <a:noFill/>
        </p:spPr>
        <p:txBody>
          <a:bodyPr wrap="square" anchor="t" lIns="0" rIns="0" tIns="0" bIns="0">
            <a:spAutoFit/>
          </a:bodyPr>
          <a:lstStyle/>
          <a:p>
            <a:pPr algn="l">
              <a:lnSpc>
                <a:spcPct val="105000"/>
              </a:lnSpc>
              <a:spcBef>
                <a:spcPts val="0"/>
              </a:spcBef>
              <a:spcAft>
                <a:spcPts val="0"/>
              </a:spcAft>
            </a:pPr>
            <a:r>
              <a:rPr sz="2100" b="1" i="0">
                <a:solidFill>
                  <a:srgbClr val="FFFFFF"/>
                </a:solidFill>
                <a:latin typeface="Manrope"/>
              </a:rPr>
              <a:t>APAC</a:t>
            </a:r>
          </a:p>
        </p:txBody>
      </p:sp>
      <p:sp>
        <p:nvSpPr>
          <p:cNvPr id="17" name="TextBox 16"/>
          <p:cNvSpPr txBox="1"/>
          <p:nvPr/>
        </p:nvSpPr>
        <p:spPr>
          <a:xfrm>
            <a:off x="4530852" y="2743200"/>
            <a:ext cx="3200400" cy="4572000"/>
          </a:xfrm>
          <a:prstGeom prst="rect">
            <a:avLst/>
          </a:prstGeom>
          <a:noFill/>
        </p:spPr>
        <p:txBody>
          <a:bodyPr wrap="square" lIns="0" tIns="0" rIns="0">
            <a:spAutoFit/>
          </a:bodyPr>
          <a:lstStyle/>
          <a:p>
            <a:pPr>
              <a:lnSpc>
                <a:spcPct val="108000"/>
              </a:lnSpc>
              <a:spcBef>
                <a:spcPts val="0"/>
              </a:spcBef>
              <a:spcAft>
                <a:spcPts val="800"/>
              </a:spcAft>
            </a:pPr>
            <a:r>
              <a:rPr sz="1120" b="1" i="0">
                <a:solidFill>
                  <a:srgbClr val="785A00"/>
                </a:solidFill>
                <a:latin typeface="Inter"/>
              </a:rPr>
              <a:t>—  </a:t>
            </a:r>
            <a:r>
              <a:rPr sz="1120" b="0" i="0">
                <a:solidFill>
                  <a:srgbClr val="1A1C19"/>
                </a:solidFill>
                <a:latin typeface="Inter"/>
              </a:rPr>
              <a:t>Indonesia, Vietnam, India, Bangladesh — mobile-first, huge crowds</a:t>
            </a:r>
          </a:p>
          <a:p>
            <a:pPr>
              <a:lnSpc>
                <a:spcPct val="108000"/>
              </a:lnSpc>
              <a:spcBef>
                <a:spcPts val="0"/>
              </a:spcBef>
              <a:spcAft>
                <a:spcPts val="800"/>
              </a:spcAft>
            </a:pPr>
            <a:r>
              <a:rPr sz="1120" b="1" i="0">
                <a:solidFill>
                  <a:srgbClr val="785A00"/>
                </a:solidFill>
                <a:latin typeface="Inter"/>
              </a:rPr>
              <a:t>—  </a:t>
            </a:r>
            <a:r>
              <a:rPr sz="1120" b="0" i="0">
                <a:solidFill>
                  <a:srgbClr val="1A1C19"/>
                </a:solidFill>
                <a:latin typeface="Inter"/>
              </a:rPr>
              <a:t>Localize languages; add regional anchors &amp; multilingual campaigns</a:t>
            </a:r>
          </a:p>
          <a:p>
            <a:pPr>
              <a:lnSpc>
                <a:spcPct val="108000"/>
              </a:lnSpc>
              <a:spcBef>
                <a:spcPts val="0"/>
              </a:spcBef>
              <a:spcAft>
                <a:spcPts val="800"/>
              </a:spcAft>
            </a:pPr>
            <a:r>
              <a:rPr sz="1120" b="1" i="0">
                <a:solidFill>
                  <a:srgbClr val="785A00"/>
                </a:solidFill>
                <a:latin typeface="Inter"/>
              </a:rPr>
              <a:t>—  </a:t>
            </a:r>
            <a:r>
              <a:rPr sz="1120" b="0" i="0">
                <a:solidFill>
                  <a:srgbClr val="1A1C19"/>
                </a:solidFill>
                <a:latin typeface="Inter"/>
              </a:rPr>
              <a:t>Native/low-resource-language preference data = premium demand</a:t>
            </a:r>
          </a:p>
          <a:p>
            <a:pPr>
              <a:lnSpc>
                <a:spcPct val="108000"/>
              </a:lnSpc>
              <a:spcBef>
                <a:spcPts val="0"/>
              </a:spcBef>
              <a:spcAft>
                <a:spcPts val="800"/>
              </a:spcAft>
            </a:pPr>
            <a:r>
              <a:rPr sz="1120" b="1" i="0">
                <a:solidFill>
                  <a:srgbClr val="785A00"/>
                </a:solidFill>
                <a:latin typeface="Inter"/>
              </a:rPr>
              <a:t>—  </a:t>
            </a:r>
            <a:r>
              <a:rPr sz="1120" b="0" i="0">
                <a:solidFill>
                  <a:srgbClr val="1A1C19"/>
                </a:solidFill>
                <a:latin typeface="Inter"/>
              </a:rPr>
              <a:t>Regional ambassador chapters (SCF Instawards) drive activation</a:t>
            </a:r>
          </a:p>
        </p:txBody>
      </p:sp>
      <p:sp>
        <p:nvSpPr>
          <p:cNvPr id="18" name="Rounded Rectangle 17"/>
          <p:cNvSpPr/>
          <p:nvPr/>
        </p:nvSpPr>
        <p:spPr>
          <a:xfrm>
            <a:off x="7982712" y="1664208"/>
            <a:ext cx="3602736" cy="4206240"/>
          </a:xfrm>
          <a:prstGeom prst="roundRect">
            <a:avLst>
              <a:gd name="adj" fmla="val 6000"/>
            </a:avLst>
          </a:prstGeom>
          <a:solidFill>
            <a:srgbClr val="FFFFFF"/>
          </a:solidFill>
          <a:ln w="12700">
            <a:solidFill>
              <a:srgbClr val="D7DD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982712" y="1664208"/>
            <a:ext cx="3602736" cy="868680"/>
          </a:xfrm>
          <a:prstGeom prst="rect">
            <a:avLst/>
          </a:prstGeom>
          <a:solidFill>
            <a:srgbClr val="0054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02168" y="1773936"/>
            <a:ext cx="3236976" cy="274320"/>
          </a:xfrm>
          <a:prstGeom prst="rect">
            <a:avLst/>
          </a:prstGeom>
          <a:noFill/>
        </p:spPr>
        <p:txBody>
          <a:bodyPr wrap="square" anchor="t" lIns="0" rIns="0" tIns="0" bIns="0">
            <a:spAutoFit/>
          </a:bodyPr>
          <a:lstStyle/>
          <a:p>
            <a:pPr algn="l">
              <a:lnSpc>
                <a:spcPct val="105000"/>
              </a:lnSpc>
              <a:spcBef>
                <a:spcPts val="0"/>
              </a:spcBef>
              <a:spcAft>
                <a:spcPts val="0"/>
              </a:spcAft>
            </a:pPr>
            <a:r>
              <a:rPr sz="1050" b="1" i="0">
                <a:solidFill>
                  <a:srgbClr val="DFF3E7"/>
                </a:solidFill>
                <a:latin typeface="Inter"/>
              </a:rPr>
              <a:t>PHASE 3  ·  Scale</a:t>
            </a:r>
          </a:p>
        </p:txBody>
      </p:sp>
      <p:sp>
        <p:nvSpPr>
          <p:cNvPr id="21" name="TextBox 20"/>
          <p:cNvSpPr txBox="1"/>
          <p:nvPr/>
        </p:nvSpPr>
        <p:spPr>
          <a:xfrm>
            <a:off x="8202168" y="2048256"/>
            <a:ext cx="3236976" cy="411480"/>
          </a:xfrm>
          <a:prstGeom prst="rect">
            <a:avLst/>
          </a:prstGeom>
          <a:noFill/>
        </p:spPr>
        <p:txBody>
          <a:bodyPr wrap="square" anchor="t" lIns="0" rIns="0" tIns="0" bIns="0">
            <a:spAutoFit/>
          </a:bodyPr>
          <a:lstStyle/>
          <a:p>
            <a:pPr algn="l">
              <a:lnSpc>
                <a:spcPct val="105000"/>
              </a:lnSpc>
              <a:spcBef>
                <a:spcPts val="0"/>
              </a:spcBef>
              <a:spcAft>
                <a:spcPts val="0"/>
              </a:spcAft>
            </a:pPr>
            <a:r>
              <a:rPr sz="2100" b="1" i="0">
                <a:solidFill>
                  <a:srgbClr val="FFFFFF"/>
                </a:solidFill>
                <a:latin typeface="Manrope"/>
              </a:rPr>
              <a:t>Global</a:t>
            </a:r>
          </a:p>
        </p:txBody>
      </p:sp>
      <p:sp>
        <p:nvSpPr>
          <p:cNvPr id="22" name="TextBox 21"/>
          <p:cNvSpPr txBox="1"/>
          <p:nvPr/>
        </p:nvSpPr>
        <p:spPr>
          <a:xfrm>
            <a:off x="8202168" y="2743200"/>
            <a:ext cx="3200400" cy="4572000"/>
          </a:xfrm>
          <a:prstGeom prst="rect">
            <a:avLst/>
          </a:prstGeom>
          <a:noFill/>
        </p:spPr>
        <p:txBody>
          <a:bodyPr wrap="square" lIns="0" tIns="0" rIns="0">
            <a:spAutoFit/>
          </a:bodyPr>
          <a:lstStyle/>
          <a:p>
            <a:pPr>
              <a:lnSpc>
                <a:spcPct val="108000"/>
              </a:lnSpc>
              <a:spcBef>
                <a:spcPts val="0"/>
              </a:spcBef>
              <a:spcAft>
                <a:spcPts val="800"/>
              </a:spcAft>
            </a:pPr>
            <a:r>
              <a:rPr sz="1120" b="1" i="0">
                <a:solidFill>
                  <a:srgbClr val="00542D"/>
                </a:solidFill>
                <a:latin typeface="Inter"/>
              </a:rPr>
              <a:t>—  </a:t>
            </a:r>
            <a:r>
              <a:rPr sz="1120" b="0" i="0">
                <a:solidFill>
                  <a:srgbClr val="1A1C19"/>
                </a:solidFill>
                <a:latin typeface="Inter"/>
              </a:rPr>
              <a:t>Africa (Yellow Card, ClickPesa) + LatAm (Vibrant, MoneyGram)</a:t>
            </a:r>
          </a:p>
          <a:p>
            <a:pPr>
              <a:lnSpc>
                <a:spcPct val="108000"/>
              </a:lnSpc>
              <a:spcBef>
                <a:spcPts val="0"/>
              </a:spcBef>
              <a:spcAft>
                <a:spcPts val="800"/>
              </a:spcAft>
            </a:pPr>
            <a:r>
              <a:rPr sz="1120" b="1" i="0">
                <a:solidFill>
                  <a:srgbClr val="00542D"/>
                </a:solidFill>
                <a:latin typeface="Inter"/>
              </a:rPr>
              <a:t>—  </a:t>
            </a:r>
            <a:r>
              <a:rPr sz="1120" b="0" i="0">
                <a:solidFill>
                  <a:srgbClr val="1A1C19"/>
                </a:solidFill>
                <a:latin typeface="Inter"/>
              </a:rPr>
              <a:t>Enterprise API + neutrality positioning for frontier labs</a:t>
            </a:r>
          </a:p>
          <a:p>
            <a:pPr>
              <a:lnSpc>
                <a:spcPct val="108000"/>
              </a:lnSpc>
              <a:spcBef>
                <a:spcPts val="0"/>
              </a:spcBef>
              <a:spcAft>
                <a:spcPts val="800"/>
              </a:spcAft>
            </a:pPr>
            <a:r>
              <a:rPr sz="1120" b="1" i="0">
                <a:solidFill>
                  <a:srgbClr val="00542D"/>
                </a:solidFill>
                <a:latin typeface="Inter"/>
              </a:rPr>
              <a:t>—  </a:t>
            </a:r>
            <a:r>
              <a:rPr sz="1120" b="0" i="0">
                <a:solidFill>
                  <a:srgbClr val="1A1C19"/>
                </a:solidFill>
                <a:latin typeface="Inter"/>
              </a:rPr>
              <a:t>Expertise routing: medical, legal, code, multilingual tiers</a:t>
            </a:r>
          </a:p>
          <a:p>
            <a:pPr>
              <a:lnSpc>
                <a:spcPct val="108000"/>
              </a:lnSpc>
              <a:spcBef>
                <a:spcPts val="0"/>
              </a:spcBef>
              <a:spcAft>
                <a:spcPts val="800"/>
              </a:spcAft>
            </a:pPr>
            <a:r>
              <a:rPr sz="1120" b="1" i="0">
                <a:solidFill>
                  <a:srgbClr val="00542D"/>
                </a:solidFill>
                <a:latin typeface="Inter"/>
              </a:rPr>
              <a:t>—  </a:t>
            </a:r>
            <a:r>
              <a:rPr sz="1120" b="0" i="0">
                <a:solidFill>
                  <a:srgbClr val="1A1C19"/>
                </a:solidFill>
                <a:latin typeface="Inter"/>
              </a:rPr>
              <a:t>Growth funded by revenue + SCF Build/Growth awards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66928"/>
            <a:ext cx="384048" cy="82296"/>
          </a:xfrm>
          <a:prstGeom prst="rect">
            <a:avLst/>
          </a:prstGeom>
          <a:solidFill>
            <a:srgbClr val="785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457200"/>
            <a:ext cx="8229600" cy="320040"/>
          </a:xfrm>
          <a:prstGeom prst="rect">
            <a:avLst/>
          </a:prstGeom>
          <a:noFill/>
        </p:spPr>
        <p:txBody>
          <a:bodyPr wrap="square" anchor="t" lIns="0" rIns="0" tIns="0" bIns="0">
            <a:spAutoFit/>
          </a:bodyPr>
          <a:lstStyle/>
          <a:p>
            <a:pPr algn="l">
              <a:lnSpc>
                <a:spcPct val="105000"/>
              </a:lnSpc>
              <a:spcBef>
                <a:spcPts val="0"/>
              </a:spcBef>
              <a:spcAft>
                <a:spcPts val="0"/>
              </a:spcAft>
            </a:pPr>
            <a:r>
              <a:rPr sz="1300" b="1" i="0">
                <a:solidFill>
                  <a:srgbClr val="785A00"/>
                </a:solidFill>
                <a:latin typeface="Inter"/>
              </a:rPr>
              <a:t>GO-TO-MARKET</a:t>
            </a:r>
          </a:p>
        </p:txBody>
      </p:sp>
      <p:sp>
        <p:nvSpPr>
          <p:cNvPr id="5" name="TextBox 4"/>
          <p:cNvSpPr txBox="1"/>
          <p:nvPr/>
        </p:nvSpPr>
        <p:spPr>
          <a:xfrm>
            <a:off x="640080" y="6455664"/>
            <a:ext cx="3657600" cy="274320"/>
          </a:xfrm>
          <a:prstGeom prst="rect">
            <a:avLst/>
          </a:prstGeom>
          <a:noFill/>
        </p:spPr>
        <p:txBody>
          <a:bodyPr wrap="square" anchor="t" lIns="0" rIns="0" tIns="0" bIns="0">
            <a:spAutoFit/>
          </a:bodyPr>
          <a:lstStyle/>
          <a:p>
            <a:pPr algn="l">
              <a:lnSpc>
                <a:spcPct val="105000"/>
              </a:lnSpc>
              <a:spcBef>
                <a:spcPts val="0"/>
              </a:spcBef>
              <a:spcAft>
                <a:spcPts val="0"/>
              </a:spcAft>
            </a:pPr>
            <a:r>
              <a:rPr sz="900" b="1" i="0">
                <a:solidFill>
                  <a:srgbClr val="006D3D"/>
                </a:solidFill>
                <a:latin typeface="Manrope"/>
              </a:rPr>
              <a:t>Centient</a:t>
            </a:r>
            <a:r>
              <a:rPr sz="900" b="0" i="0">
                <a:solidFill>
                  <a:srgbClr val="444A46"/>
                </a:solidFill>
                <a:latin typeface="Inter"/>
              </a:rPr>
              <a:t>  ·  Train AI, cent by cent.</a:t>
            </a:r>
          </a:p>
        </p:txBody>
      </p:sp>
      <p:sp>
        <p:nvSpPr>
          <p:cNvPr id="6" name="TextBox 5"/>
          <p:cNvSpPr txBox="1"/>
          <p:nvPr/>
        </p:nvSpPr>
        <p:spPr>
          <a:xfrm>
            <a:off x="10424160" y="6455664"/>
            <a:ext cx="1097280" cy="274320"/>
          </a:xfrm>
          <a:prstGeom prst="rect">
            <a:avLst/>
          </a:prstGeom>
          <a:noFill/>
        </p:spPr>
        <p:txBody>
          <a:bodyPr wrap="square" anchor="t" lIns="0" rIns="0" tIns="0" bIns="0">
            <a:spAutoFit/>
          </a:bodyPr>
          <a:lstStyle/>
          <a:p>
            <a:pPr algn="r">
              <a:lnSpc>
                <a:spcPct val="105000"/>
              </a:lnSpc>
              <a:spcBef>
                <a:spcPts val="0"/>
              </a:spcBef>
              <a:spcAft>
                <a:spcPts val="0"/>
              </a:spcAft>
            </a:pPr>
            <a:r>
              <a:rPr sz="900" b="1" i="0">
                <a:solidFill>
                  <a:srgbClr val="444A46"/>
                </a:solidFill>
                <a:latin typeface="Inter"/>
              </a:rPr>
              <a:t>11</a:t>
            </a:r>
          </a:p>
        </p:txBody>
      </p:sp>
      <p:sp>
        <p:nvSpPr>
          <p:cNvPr id="7" name="TextBox 6"/>
          <p:cNvSpPr txBox="1"/>
          <p:nvPr/>
        </p:nvSpPr>
        <p:spPr>
          <a:xfrm>
            <a:off x="640080" y="841248"/>
            <a:ext cx="10881360" cy="914400"/>
          </a:xfrm>
          <a:prstGeom prst="rect">
            <a:avLst/>
          </a:prstGeom>
          <a:noFill/>
        </p:spPr>
        <p:txBody>
          <a:bodyPr wrap="square" anchor="t" lIns="0" rIns="0" tIns="0" bIns="0">
            <a:spAutoFit/>
          </a:bodyPr>
          <a:lstStyle/>
          <a:p>
            <a:pPr algn="l">
              <a:lnSpc>
                <a:spcPct val="100000"/>
              </a:lnSpc>
              <a:spcBef>
                <a:spcPts val="0"/>
              </a:spcBef>
              <a:spcAft>
                <a:spcPts val="0"/>
              </a:spcAft>
            </a:pPr>
            <a:r>
              <a:rPr sz="3000" b="1" i="0">
                <a:solidFill>
                  <a:srgbClr val="1A1C19"/>
                </a:solidFill>
                <a:latin typeface="Manrope"/>
              </a:rPr>
              <a:t>The growth engine: seed supply, lock demand, compound on-chain</a:t>
            </a:r>
          </a:p>
        </p:txBody>
      </p:sp>
      <p:sp>
        <p:nvSpPr>
          <p:cNvPr id="8" name="Rounded Rectangle 7"/>
          <p:cNvSpPr/>
          <p:nvPr/>
        </p:nvSpPr>
        <p:spPr>
          <a:xfrm>
            <a:off x="640080" y="1737360"/>
            <a:ext cx="5349240" cy="2286000"/>
          </a:xfrm>
          <a:prstGeom prst="roundRect">
            <a:avLst>
              <a:gd name="adj" fmla="val 6000"/>
            </a:avLst>
          </a:prstGeom>
          <a:solidFill>
            <a:srgbClr val="FFFFFF"/>
          </a:solidFill>
          <a:ln w="12700">
            <a:solidFill>
              <a:srgbClr val="D7DD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1737360"/>
            <a:ext cx="82296" cy="2286000"/>
          </a:xfrm>
          <a:prstGeom prst="rect">
            <a:avLst/>
          </a:prstGeom>
          <a:solidFill>
            <a:srgbClr val="006D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1938528"/>
            <a:ext cx="4983480" cy="274320"/>
          </a:xfrm>
          <a:prstGeom prst="rect">
            <a:avLst/>
          </a:prstGeom>
          <a:noFill/>
        </p:spPr>
        <p:txBody>
          <a:bodyPr wrap="square" anchor="t" lIns="0" rIns="0" tIns="0" bIns="0">
            <a:spAutoFit/>
          </a:bodyPr>
          <a:lstStyle/>
          <a:p>
            <a:pPr algn="l">
              <a:lnSpc>
                <a:spcPct val="105000"/>
              </a:lnSpc>
              <a:spcBef>
                <a:spcPts val="0"/>
              </a:spcBef>
              <a:spcAft>
                <a:spcPts val="0"/>
              </a:spcAft>
            </a:pPr>
            <a:r>
              <a:rPr sz="950" b="1" i="0">
                <a:solidFill>
                  <a:srgbClr val="006D3D"/>
                </a:solidFill>
                <a:latin typeface="Inter"/>
              </a:rPr>
              <a:t>CHEAP, VIRAL, QUALITY-GATED</a:t>
            </a:r>
          </a:p>
        </p:txBody>
      </p:sp>
      <p:sp>
        <p:nvSpPr>
          <p:cNvPr id="11" name="TextBox 10"/>
          <p:cNvSpPr txBox="1"/>
          <p:nvPr/>
        </p:nvSpPr>
        <p:spPr>
          <a:xfrm>
            <a:off x="859536" y="2212848"/>
            <a:ext cx="4983480" cy="365760"/>
          </a:xfrm>
          <a:prstGeom prst="rect">
            <a:avLst/>
          </a:prstGeom>
          <a:noFill/>
        </p:spPr>
        <p:txBody>
          <a:bodyPr wrap="square" anchor="t" lIns="0" rIns="0" tIns="0" bIns="0">
            <a:spAutoFit/>
          </a:bodyPr>
          <a:lstStyle/>
          <a:p>
            <a:pPr algn="l">
              <a:lnSpc>
                <a:spcPct val="100000"/>
              </a:lnSpc>
              <a:spcBef>
                <a:spcPts val="0"/>
              </a:spcBef>
              <a:spcAft>
                <a:spcPts val="0"/>
              </a:spcAft>
            </a:pPr>
            <a:r>
              <a:rPr sz="1400" b="1" i="0">
                <a:solidFill>
                  <a:srgbClr val="1A1C19"/>
                </a:solidFill>
                <a:latin typeface="Manrope"/>
              </a:rPr>
              <a:t>Supply loop (labelers)</a:t>
            </a:r>
          </a:p>
        </p:txBody>
      </p:sp>
      <p:sp>
        <p:nvSpPr>
          <p:cNvPr id="12" name="TextBox 11"/>
          <p:cNvSpPr txBox="1"/>
          <p:nvPr/>
        </p:nvSpPr>
        <p:spPr>
          <a:xfrm>
            <a:off x="859536" y="2596896"/>
            <a:ext cx="4965192" cy="1353312"/>
          </a:xfrm>
          <a:prstGeom prst="rect">
            <a:avLst/>
          </a:prstGeom>
          <a:noFill/>
        </p:spPr>
        <p:txBody>
          <a:bodyPr wrap="square" anchor="t" lIns="0" rIns="0" tIns="0" bIns="0">
            <a:spAutoFit/>
          </a:bodyPr>
          <a:lstStyle/>
          <a:p>
            <a:pPr algn="l">
              <a:lnSpc>
                <a:spcPct val="106000"/>
              </a:lnSpc>
              <a:spcBef>
                <a:spcPts val="0"/>
              </a:spcBef>
              <a:spcAft>
                <a:spcPts val="0"/>
              </a:spcAft>
            </a:pPr>
            <a:r>
              <a:rPr sz="1150" b="0" i="0">
                <a:solidFill>
                  <a:srgbClr val="444A46"/>
                </a:solidFill>
                <a:latin typeface="Inter"/>
              </a:rPr>
              <a:t>Referral bounties in USDC for onboarding verified reviewers · community &amp; ambassador seeding per market · zero-XLM, near-zero-friction signup · reputation that unlocks higher pay = retention. CAC is tied to productive users, not vanity signups.</a:t>
            </a:r>
          </a:p>
        </p:txBody>
      </p:sp>
      <p:sp>
        <p:nvSpPr>
          <p:cNvPr id="13" name="Rounded Rectangle 12"/>
          <p:cNvSpPr/>
          <p:nvPr/>
        </p:nvSpPr>
        <p:spPr>
          <a:xfrm>
            <a:off x="6199632" y="1737360"/>
            <a:ext cx="5349240" cy="2286000"/>
          </a:xfrm>
          <a:prstGeom prst="roundRect">
            <a:avLst>
              <a:gd name="adj" fmla="val 6000"/>
            </a:avLst>
          </a:prstGeom>
          <a:solidFill>
            <a:srgbClr val="FFFFFF"/>
          </a:solidFill>
          <a:ln w="12700">
            <a:solidFill>
              <a:srgbClr val="D7DD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99632" y="1737360"/>
            <a:ext cx="82296" cy="2286000"/>
          </a:xfrm>
          <a:prstGeom prst="rect">
            <a:avLst/>
          </a:prstGeom>
          <a:solidFill>
            <a:srgbClr val="785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19088" y="1938528"/>
            <a:ext cx="4983480" cy="274320"/>
          </a:xfrm>
          <a:prstGeom prst="rect">
            <a:avLst/>
          </a:prstGeom>
          <a:noFill/>
        </p:spPr>
        <p:txBody>
          <a:bodyPr wrap="square" anchor="t" lIns="0" rIns="0" tIns="0" bIns="0">
            <a:spAutoFit/>
          </a:bodyPr>
          <a:lstStyle/>
          <a:p>
            <a:pPr algn="l">
              <a:lnSpc>
                <a:spcPct val="105000"/>
              </a:lnSpc>
              <a:spcBef>
                <a:spcPts val="0"/>
              </a:spcBef>
              <a:spcAft>
                <a:spcPts val="0"/>
              </a:spcAft>
            </a:pPr>
            <a:r>
              <a:rPr sz="950" b="1" i="0">
                <a:solidFill>
                  <a:srgbClr val="785A00"/>
                </a:solidFill>
                <a:latin typeface="Inter"/>
              </a:rPr>
              <a:t>LAND-AND-EXPAND</a:t>
            </a:r>
          </a:p>
        </p:txBody>
      </p:sp>
      <p:sp>
        <p:nvSpPr>
          <p:cNvPr id="16" name="TextBox 15"/>
          <p:cNvSpPr txBox="1"/>
          <p:nvPr/>
        </p:nvSpPr>
        <p:spPr>
          <a:xfrm>
            <a:off x="6419088" y="2212848"/>
            <a:ext cx="4983480" cy="365760"/>
          </a:xfrm>
          <a:prstGeom prst="rect">
            <a:avLst/>
          </a:prstGeom>
          <a:noFill/>
        </p:spPr>
        <p:txBody>
          <a:bodyPr wrap="square" anchor="t" lIns="0" rIns="0" tIns="0" bIns="0">
            <a:spAutoFit/>
          </a:bodyPr>
          <a:lstStyle/>
          <a:p>
            <a:pPr algn="l">
              <a:lnSpc>
                <a:spcPct val="100000"/>
              </a:lnSpc>
              <a:spcBef>
                <a:spcPts val="0"/>
              </a:spcBef>
              <a:spcAft>
                <a:spcPts val="0"/>
              </a:spcAft>
            </a:pPr>
            <a:r>
              <a:rPr sz="1400" b="1" i="0">
                <a:solidFill>
                  <a:srgbClr val="1A1C19"/>
                </a:solidFill>
                <a:latin typeface="Manrope"/>
              </a:rPr>
              <a:t>Demand loop (customers)</a:t>
            </a:r>
          </a:p>
        </p:txBody>
      </p:sp>
      <p:sp>
        <p:nvSpPr>
          <p:cNvPr id="17" name="TextBox 16"/>
          <p:cNvSpPr txBox="1"/>
          <p:nvPr/>
        </p:nvSpPr>
        <p:spPr>
          <a:xfrm>
            <a:off x="6419088" y="2596896"/>
            <a:ext cx="4965192" cy="1353312"/>
          </a:xfrm>
          <a:prstGeom prst="rect">
            <a:avLst/>
          </a:prstGeom>
          <a:noFill/>
        </p:spPr>
        <p:txBody>
          <a:bodyPr wrap="square" anchor="t" lIns="0" rIns="0" tIns="0" bIns="0">
            <a:spAutoFit/>
          </a:bodyPr>
          <a:lstStyle/>
          <a:p>
            <a:pPr algn="l">
              <a:lnSpc>
                <a:spcPct val="106000"/>
              </a:lnSpc>
              <a:spcBef>
                <a:spcPts val="0"/>
              </a:spcBef>
              <a:spcAft>
                <a:spcPts val="0"/>
              </a:spcAft>
            </a:pPr>
            <a:r>
              <a:rPr sz="1150" b="0" i="0">
                <a:solidFill>
                  <a:srgbClr val="444A46"/>
                </a:solidFill>
                <a:latin typeface="Inter"/>
              </a:rPr>
              <a:t>Design-partner AI labs &amp; startups first · self-serve campaign console + transparent take-rate · Enterprise API for recurring jobs · neutrality &amp; ethical-sourcing as the sales wedge post-Scale/Meta. Every funded campaign pulls more USDC onto Stellar.</a:t>
            </a:r>
          </a:p>
        </p:txBody>
      </p:sp>
      <p:sp>
        <p:nvSpPr>
          <p:cNvPr id="18" name="Rounded Rectangle 17"/>
          <p:cNvSpPr/>
          <p:nvPr/>
        </p:nvSpPr>
        <p:spPr>
          <a:xfrm>
            <a:off x="640080" y="4251960"/>
            <a:ext cx="10908792" cy="1600200"/>
          </a:xfrm>
          <a:prstGeom prst="roundRect">
            <a:avLst>
              <a:gd name="adj" fmla="val 6000"/>
            </a:avLst>
          </a:prstGeom>
          <a:solidFill>
            <a:srgbClr val="E7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4434840"/>
            <a:ext cx="10332720" cy="365760"/>
          </a:xfrm>
          <a:prstGeom prst="rect">
            <a:avLst/>
          </a:prstGeom>
          <a:noFill/>
        </p:spPr>
        <p:txBody>
          <a:bodyPr wrap="square" anchor="t" lIns="0" rIns="0" tIns="0" bIns="0">
            <a:spAutoFit/>
          </a:bodyPr>
          <a:lstStyle/>
          <a:p>
            <a:pPr algn="l">
              <a:lnSpc>
                <a:spcPct val="105000"/>
              </a:lnSpc>
              <a:spcBef>
                <a:spcPts val="0"/>
              </a:spcBef>
              <a:spcAft>
                <a:spcPts val="0"/>
              </a:spcAft>
            </a:pPr>
            <a:r>
              <a:rPr sz="1400" b="1" i="0">
                <a:solidFill>
                  <a:srgbClr val="006D3D"/>
                </a:solidFill>
                <a:latin typeface="Manrope"/>
              </a:rPr>
              <a:t>The flywheel</a:t>
            </a:r>
          </a:p>
        </p:txBody>
      </p:sp>
      <p:sp>
        <p:nvSpPr>
          <p:cNvPr id="20" name="TextBox 19"/>
          <p:cNvSpPr txBox="1"/>
          <p:nvPr/>
        </p:nvSpPr>
        <p:spPr>
          <a:xfrm>
            <a:off x="914400" y="4828032"/>
            <a:ext cx="10424160" cy="914400"/>
          </a:xfrm>
          <a:prstGeom prst="rect">
            <a:avLst/>
          </a:prstGeom>
          <a:noFill/>
        </p:spPr>
        <p:txBody>
          <a:bodyPr wrap="square" anchor="t" lIns="0" rIns="0" tIns="0" bIns="0">
            <a:spAutoFit/>
          </a:bodyPr>
          <a:lstStyle/>
          <a:p>
            <a:pPr algn="l">
              <a:lnSpc>
                <a:spcPct val="112000"/>
              </a:lnSpc>
              <a:spcBef>
                <a:spcPts val="0"/>
              </a:spcBef>
              <a:spcAft>
                <a:spcPts val="300"/>
              </a:spcAft>
            </a:pPr>
            <a:r>
              <a:rPr sz="1350" b="0" i="0">
                <a:solidFill>
                  <a:srgbClr val="1A1C19"/>
                </a:solidFill>
                <a:latin typeface="Inter"/>
              </a:rPr>
              <a:t>More labelers → faster, higher-quality data → more labs fund campaigns → bigger USDC payouts → </a:t>
            </a:r>
            <a:r>
              <a:rPr sz="1350" b="1" i="0">
                <a:solidFill>
                  <a:srgbClr val="006D3D"/>
                </a:solidFill>
                <a:latin typeface="Inter"/>
              </a:rPr>
              <a:t>stronger word-of-mouth + anchor cash-out → more labelers. </a:t>
            </a:r>
          </a:p>
          <a:p>
            <a:pPr algn="l">
              <a:lnSpc>
                <a:spcPct val="112000"/>
              </a:lnSpc>
              <a:spcBef>
                <a:spcPts val="0"/>
              </a:spcBef>
              <a:spcAft>
                <a:spcPts val="300"/>
              </a:spcAft>
            </a:pPr>
            <a:r>
              <a:rPr sz="1250" b="0" i="0">
                <a:solidFill>
                  <a:srgbClr val="444A46"/>
                </a:solidFill>
                <a:latin typeface="Inter"/>
              </a:rPr>
              <a:t>Every turn also grows Stellar wallet activations, USDC velocity, and anchor volume — our growth and the ecosystem's are the same motion.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66928"/>
            <a:ext cx="384048" cy="82296"/>
          </a:xfrm>
          <a:prstGeom prst="rect">
            <a:avLst/>
          </a:prstGeom>
          <a:solidFill>
            <a:srgbClr val="006D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457200"/>
            <a:ext cx="8229600" cy="320040"/>
          </a:xfrm>
          <a:prstGeom prst="rect">
            <a:avLst/>
          </a:prstGeom>
          <a:noFill/>
        </p:spPr>
        <p:txBody>
          <a:bodyPr wrap="square" anchor="t" lIns="0" rIns="0" tIns="0" bIns="0">
            <a:spAutoFit/>
          </a:bodyPr>
          <a:lstStyle/>
          <a:p>
            <a:pPr algn="l">
              <a:lnSpc>
                <a:spcPct val="105000"/>
              </a:lnSpc>
              <a:spcBef>
                <a:spcPts val="0"/>
              </a:spcBef>
              <a:spcAft>
                <a:spcPts val="0"/>
              </a:spcAft>
            </a:pPr>
            <a:r>
              <a:rPr sz="1300" b="1" i="0">
                <a:solidFill>
                  <a:srgbClr val="006D3D"/>
                </a:solidFill>
                <a:latin typeface="Inter"/>
              </a:rPr>
              <a:t>WHERE WE ARE</a:t>
            </a:r>
          </a:p>
        </p:txBody>
      </p:sp>
      <p:sp>
        <p:nvSpPr>
          <p:cNvPr id="5" name="TextBox 4"/>
          <p:cNvSpPr txBox="1"/>
          <p:nvPr/>
        </p:nvSpPr>
        <p:spPr>
          <a:xfrm>
            <a:off x="640080" y="6455664"/>
            <a:ext cx="3657600" cy="274320"/>
          </a:xfrm>
          <a:prstGeom prst="rect">
            <a:avLst/>
          </a:prstGeom>
          <a:noFill/>
        </p:spPr>
        <p:txBody>
          <a:bodyPr wrap="square" anchor="t" lIns="0" rIns="0" tIns="0" bIns="0">
            <a:spAutoFit/>
          </a:bodyPr>
          <a:lstStyle/>
          <a:p>
            <a:pPr algn="l">
              <a:lnSpc>
                <a:spcPct val="105000"/>
              </a:lnSpc>
              <a:spcBef>
                <a:spcPts val="0"/>
              </a:spcBef>
              <a:spcAft>
                <a:spcPts val="0"/>
              </a:spcAft>
            </a:pPr>
            <a:r>
              <a:rPr sz="900" b="1" i="0">
                <a:solidFill>
                  <a:srgbClr val="006D3D"/>
                </a:solidFill>
                <a:latin typeface="Manrope"/>
              </a:rPr>
              <a:t>Centient</a:t>
            </a:r>
            <a:r>
              <a:rPr sz="900" b="0" i="0">
                <a:solidFill>
                  <a:srgbClr val="444A46"/>
                </a:solidFill>
                <a:latin typeface="Inter"/>
              </a:rPr>
              <a:t>  ·  Train AI, cent by cent.</a:t>
            </a:r>
          </a:p>
        </p:txBody>
      </p:sp>
      <p:sp>
        <p:nvSpPr>
          <p:cNvPr id="6" name="TextBox 5"/>
          <p:cNvSpPr txBox="1"/>
          <p:nvPr/>
        </p:nvSpPr>
        <p:spPr>
          <a:xfrm>
            <a:off x="10424160" y="6455664"/>
            <a:ext cx="1097280" cy="274320"/>
          </a:xfrm>
          <a:prstGeom prst="rect">
            <a:avLst/>
          </a:prstGeom>
          <a:noFill/>
        </p:spPr>
        <p:txBody>
          <a:bodyPr wrap="square" anchor="t" lIns="0" rIns="0" tIns="0" bIns="0">
            <a:spAutoFit/>
          </a:bodyPr>
          <a:lstStyle/>
          <a:p>
            <a:pPr algn="r">
              <a:lnSpc>
                <a:spcPct val="105000"/>
              </a:lnSpc>
              <a:spcBef>
                <a:spcPts val="0"/>
              </a:spcBef>
              <a:spcAft>
                <a:spcPts val="0"/>
              </a:spcAft>
            </a:pPr>
            <a:r>
              <a:rPr sz="900" b="1" i="0">
                <a:solidFill>
                  <a:srgbClr val="444A46"/>
                </a:solidFill>
                <a:latin typeface="Inter"/>
              </a:rPr>
              <a:t>12</a:t>
            </a:r>
          </a:p>
        </p:txBody>
      </p:sp>
      <p:sp>
        <p:nvSpPr>
          <p:cNvPr id="7" name="TextBox 6"/>
          <p:cNvSpPr txBox="1"/>
          <p:nvPr/>
        </p:nvSpPr>
        <p:spPr>
          <a:xfrm>
            <a:off x="640080" y="841248"/>
            <a:ext cx="10881360" cy="914400"/>
          </a:xfrm>
          <a:prstGeom prst="rect">
            <a:avLst/>
          </a:prstGeom>
          <a:noFill/>
        </p:spPr>
        <p:txBody>
          <a:bodyPr wrap="square" anchor="t" lIns="0" rIns="0" tIns="0" bIns="0">
            <a:spAutoFit/>
          </a:bodyPr>
          <a:lstStyle/>
          <a:p>
            <a:pPr algn="l">
              <a:lnSpc>
                <a:spcPct val="100000"/>
              </a:lnSpc>
              <a:spcBef>
                <a:spcPts val="0"/>
              </a:spcBef>
              <a:spcAft>
                <a:spcPts val="0"/>
              </a:spcAft>
            </a:pPr>
            <a:r>
              <a:rPr sz="3000" b="1" i="0">
                <a:solidFill>
                  <a:srgbClr val="1A1C19"/>
                </a:solidFill>
                <a:latin typeface="Manrope"/>
              </a:rPr>
              <a:t>Product is built and on Stellar — next is distribution</a:t>
            </a:r>
          </a:p>
        </p:txBody>
      </p:sp>
      <p:sp>
        <p:nvSpPr>
          <p:cNvPr id="8" name="Rounded Rectangle 7"/>
          <p:cNvSpPr/>
          <p:nvPr/>
        </p:nvSpPr>
        <p:spPr>
          <a:xfrm>
            <a:off x="640080" y="1783080"/>
            <a:ext cx="3566160" cy="2286000"/>
          </a:xfrm>
          <a:prstGeom prst="roundRect">
            <a:avLst>
              <a:gd name="adj" fmla="val 6000"/>
            </a:avLst>
          </a:prstGeom>
          <a:solidFill>
            <a:srgbClr val="FFFFFF"/>
          </a:solidFill>
          <a:ln w="12700">
            <a:solidFill>
              <a:srgbClr val="D7DD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59536" y="1993392"/>
            <a:ext cx="1371600" cy="310896"/>
          </a:xfrm>
          <a:prstGeom prst="roundRect">
            <a:avLst>
              <a:gd name="adj" fmla="val 6000"/>
            </a:avLst>
          </a:prstGeom>
          <a:solidFill>
            <a:srgbClr val="006D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1993392"/>
            <a:ext cx="1371600" cy="310896"/>
          </a:xfrm>
          <a:prstGeom prst="rect">
            <a:avLst/>
          </a:prstGeom>
          <a:noFill/>
        </p:spPr>
        <p:txBody>
          <a:bodyPr wrap="square" anchor="ctr" lIns="0" rIns="0" tIns="0" bIns="0">
            <a:spAutoFit/>
          </a:bodyPr>
          <a:lstStyle/>
          <a:p>
            <a:pPr algn="ctr">
              <a:lnSpc>
                <a:spcPct val="105000"/>
              </a:lnSpc>
              <a:spcBef>
                <a:spcPts val="0"/>
              </a:spcBef>
              <a:spcAft>
                <a:spcPts val="0"/>
              </a:spcAft>
            </a:pPr>
            <a:r>
              <a:rPr sz="1050" b="1" i="0">
                <a:solidFill>
                  <a:srgbClr val="FFFFFF"/>
                </a:solidFill>
                <a:latin typeface="Inter"/>
              </a:rPr>
              <a:t>Shipped</a:t>
            </a:r>
          </a:p>
        </p:txBody>
      </p:sp>
      <p:sp>
        <p:nvSpPr>
          <p:cNvPr id="11" name="TextBox 10"/>
          <p:cNvSpPr txBox="1"/>
          <p:nvPr/>
        </p:nvSpPr>
        <p:spPr>
          <a:xfrm>
            <a:off x="859536" y="2514600"/>
            <a:ext cx="3154680" cy="1463040"/>
          </a:xfrm>
          <a:prstGeom prst="rect">
            <a:avLst/>
          </a:prstGeom>
          <a:noFill/>
        </p:spPr>
        <p:txBody>
          <a:bodyPr wrap="square" anchor="t" lIns="0" rIns="0" tIns="0" bIns="0">
            <a:spAutoFit/>
          </a:bodyPr>
          <a:lstStyle/>
          <a:p>
            <a:pPr algn="l">
              <a:lnSpc>
                <a:spcPct val="110000"/>
              </a:lnSpc>
              <a:spcBef>
                <a:spcPts val="0"/>
              </a:spcBef>
              <a:spcAft>
                <a:spcPts val="0"/>
              </a:spcAft>
            </a:pPr>
            <a:r>
              <a:rPr sz="1250" b="0" i="0">
                <a:solidFill>
                  <a:srgbClr val="1A1C19"/>
                </a:solidFill>
                <a:latin typeface="Inter"/>
              </a:rPr>
              <a:t>Full labeler app + admin/campaign console, quality &amp; anti-fraud stack, accumulate-then-withdraw ledger, payout worker + reconciler.</a:t>
            </a:r>
          </a:p>
        </p:txBody>
      </p:sp>
      <p:sp>
        <p:nvSpPr>
          <p:cNvPr id="12" name="Rounded Rectangle 11"/>
          <p:cNvSpPr/>
          <p:nvPr/>
        </p:nvSpPr>
        <p:spPr>
          <a:xfrm>
            <a:off x="4343400" y="1783080"/>
            <a:ext cx="3566160" cy="2286000"/>
          </a:xfrm>
          <a:prstGeom prst="roundRect">
            <a:avLst>
              <a:gd name="adj" fmla="val 6000"/>
            </a:avLst>
          </a:prstGeom>
          <a:solidFill>
            <a:srgbClr val="FFFFFF"/>
          </a:solidFill>
          <a:ln w="12700">
            <a:solidFill>
              <a:srgbClr val="D7DD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562856" y="1993392"/>
            <a:ext cx="1371600" cy="310896"/>
          </a:xfrm>
          <a:prstGeom prst="roundRect">
            <a:avLst>
              <a:gd name="adj" fmla="val 6000"/>
            </a:avLst>
          </a:prstGeom>
          <a:solidFill>
            <a:srgbClr val="785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62856" y="1993392"/>
            <a:ext cx="1371600" cy="310896"/>
          </a:xfrm>
          <a:prstGeom prst="rect">
            <a:avLst/>
          </a:prstGeom>
          <a:noFill/>
        </p:spPr>
        <p:txBody>
          <a:bodyPr wrap="square" anchor="ctr" lIns="0" rIns="0" tIns="0" bIns="0">
            <a:spAutoFit/>
          </a:bodyPr>
          <a:lstStyle/>
          <a:p>
            <a:pPr algn="ctr">
              <a:lnSpc>
                <a:spcPct val="105000"/>
              </a:lnSpc>
              <a:spcBef>
                <a:spcPts val="0"/>
              </a:spcBef>
              <a:spcAft>
                <a:spcPts val="0"/>
              </a:spcAft>
            </a:pPr>
            <a:r>
              <a:rPr sz="1050" b="1" i="0">
                <a:solidFill>
                  <a:srgbClr val="FFFFFF"/>
                </a:solidFill>
                <a:latin typeface="Inter"/>
              </a:rPr>
              <a:t>Migrated</a:t>
            </a:r>
          </a:p>
        </p:txBody>
      </p:sp>
      <p:sp>
        <p:nvSpPr>
          <p:cNvPr id="15" name="TextBox 14"/>
          <p:cNvSpPr txBox="1"/>
          <p:nvPr/>
        </p:nvSpPr>
        <p:spPr>
          <a:xfrm>
            <a:off x="4562856" y="2514600"/>
            <a:ext cx="3154680" cy="1463040"/>
          </a:xfrm>
          <a:prstGeom prst="rect">
            <a:avLst/>
          </a:prstGeom>
          <a:noFill/>
        </p:spPr>
        <p:txBody>
          <a:bodyPr wrap="square" anchor="t" lIns="0" rIns="0" tIns="0" bIns="0">
            <a:spAutoFit/>
          </a:bodyPr>
          <a:lstStyle/>
          <a:p>
            <a:pPr algn="l">
              <a:lnSpc>
                <a:spcPct val="110000"/>
              </a:lnSpc>
              <a:spcBef>
                <a:spcPts val="0"/>
              </a:spcBef>
              <a:spcAft>
                <a:spcPts val="0"/>
              </a:spcAft>
            </a:pPr>
            <a:r>
              <a:rPr sz="1250" b="0" i="0">
                <a:solidFill>
                  <a:srgbClr val="1A1C19"/>
                </a:solidFill>
                <a:latin typeface="Inter"/>
              </a:rPr>
              <a:t>Ported from Celo/MiniPay to Stellar — @stellar/stellar-sdk, Freighter, Ed25519/StrKey, USDC-on-Stellar.</a:t>
            </a:r>
          </a:p>
        </p:txBody>
      </p:sp>
      <p:sp>
        <p:nvSpPr>
          <p:cNvPr id="16" name="Rounded Rectangle 15"/>
          <p:cNvSpPr/>
          <p:nvPr/>
        </p:nvSpPr>
        <p:spPr>
          <a:xfrm>
            <a:off x="8046720" y="1783080"/>
            <a:ext cx="3566160" cy="2286000"/>
          </a:xfrm>
          <a:prstGeom prst="roundRect">
            <a:avLst>
              <a:gd name="adj" fmla="val 6000"/>
            </a:avLst>
          </a:prstGeom>
          <a:solidFill>
            <a:srgbClr val="FFFFFF"/>
          </a:solidFill>
          <a:ln w="12700">
            <a:solidFill>
              <a:srgbClr val="D7DD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266176" y="1993392"/>
            <a:ext cx="1371600" cy="310896"/>
          </a:xfrm>
          <a:prstGeom prst="roundRect">
            <a:avLst>
              <a:gd name="adj" fmla="val 6000"/>
            </a:avLst>
          </a:prstGeom>
          <a:solidFill>
            <a:srgbClr val="0054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66176" y="1993392"/>
            <a:ext cx="1371600" cy="310896"/>
          </a:xfrm>
          <a:prstGeom prst="rect">
            <a:avLst/>
          </a:prstGeom>
          <a:noFill/>
        </p:spPr>
        <p:txBody>
          <a:bodyPr wrap="square" anchor="ctr" lIns="0" rIns="0" tIns="0" bIns="0">
            <a:spAutoFit/>
          </a:bodyPr>
          <a:lstStyle/>
          <a:p>
            <a:pPr algn="ctr">
              <a:lnSpc>
                <a:spcPct val="105000"/>
              </a:lnSpc>
              <a:spcBef>
                <a:spcPts val="0"/>
              </a:spcBef>
              <a:spcAft>
                <a:spcPts val="0"/>
              </a:spcAft>
            </a:pPr>
            <a:r>
              <a:rPr sz="1050" b="1" i="0">
                <a:solidFill>
                  <a:srgbClr val="FFFFFF"/>
                </a:solidFill>
                <a:latin typeface="Inter"/>
              </a:rPr>
              <a:t>Now</a:t>
            </a:r>
          </a:p>
        </p:txBody>
      </p:sp>
      <p:sp>
        <p:nvSpPr>
          <p:cNvPr id="19" name="TextBox 18"/>
          <p:cNvSpPr txBox="1"/>
          <p:nvPr/>
        </p:nvSpPr>
        <p:spPr>
          <a:xfrm>
            <a:off x="8266176" y="2514600"/>
            <a:ext cx="3154680" cy="1463040"/>
          </a:xfrm>
          <a:prstGeom prst="rect">
            <a:avLst/>
          </a:prstGeom>
          <a:noFill/>
        </p:spPr>
        <p:txBody>
          <a:bodyPr wrap="square" anchor="t" lIns="0" rIns="0" tIns="0" bIns="0">
            <a:spAutoFit/>
          </a:bodyPr>
          <a:lstStyle/>
          <a:p>
            <a:pPr algn="l">
              <a:lnSpc>
                <a:spcPct val="110000"/>
              </a:lnSpc>
              <a:spcBef>
                <a:spcPts val="0"/>
              </a:spcBef>
              <a:spcAft>
                <a:spcPts val="0"/>
              </a:spcAft>
            </a:pPr>
            <a:r>
              <a:rPr sz="1250" b="0" i="0">
                <a:solidFill>
                  <a:srgbClr val="1A1C19"/>
                </a:solidFill>
                <a:latin typeface="Inter"/>
              </a:rPr>
              <a:t>Sponsored-trustline onboarding, SEP-24 cash-out, SDP evaluation, Philippines labeler pilot + design-partner labs.</a:t>
            </a:r>
          </a:p>
        </p:txBody>
      </p:sp>
      <p:sp>
        <p:nvSpPr>
          <p:cNvPr id="20" name="Rounded Rectangle 19"/>
          <p:cNvSpPr/>
          <p:nvPr/>
        </p:nvSpPr>
        <p:spPr>
          <a:xfrm>
            <a:off x="640080" y="4343400"/>
            <a:ext cx="10908792" cy="1463040"/>
          </a:xfrm>
          <a:prstGeom prst="roundRect">
            <a:avLst>
              <a:gd name="adj" fmla="val 6000"/>
            </a:avLst>
          </a:prstGeom>
          <a:solidFill>
            <a:srgbClr val="E7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4553712"/>
            <a:ext cx="10332720" cy="1097280"/>
          </a:xfrm>
          <a:prstGeom prst="rect">
            <a:avLst/>
          </a:prstGeom>
          <a:noFill/>
        </p:spPr>
        <p:txBody>
          <a:bodyPr wrap="square" anchor="t" lIns="0" rIns="0" tIns="0" bIns="0">
            <a:spAutoFit/>
          </a:bodyPr>
          <a:lstStyle/>
          <a:p>
            <a:pPr algn="l">
              <a:lnSpc>
                <a:spcPct val="112000"/>
              </a:lnSpc>
              <a:spcBef>
                <a:spcPts val="0"/>
              </a:spcBef>
              <a:spcAft>
                <a:spcPts val="400"/>
              </a:spcAft>
            </a:pPr>
            <a:r>
              <a:rPr sz="1400" b="1" i="0">
                <a:solidFill>
                  <a:srgbClr val="006D3D"/>
                </a:solidFill>
                <a:latin typeface="Manrope"/>
              </a:rPr>
              <a:t>Proof points to watch: </a:t>
            </a:r>
            <a:r>
              <a:rPr sz="1300" b="0" i="0">
                <a:solidFill>
                  <a:srgbClr val="1A1C19"/>
                </a:solidFill>
                <a:latin typeface="Inter"/>
              </a:rPr>
              <a:t>activated wallets, weekly active labelers, submissions/day, gold pass-rate, USDC paid out, and anchor cash-out volume </a:t>
            </a:r>
          </a:p>
          <a:p>
            <a:pPr algn="l">
              <a:lnSpc>
                <a:spcPct val="112000"/>
              </a:lnSpc>
              <a:spcBef>
                <a:spcPts val="0"/>
              </a:spcBef>
              <a:spcAft>
                <a:spcPts val="400"/>
              </a:spcAft>
            </a:pPr>
            <a:r>
              <a:rPr sz="1250" b="0" i="0">
                <a:solidFill>
                  <a:srgbClr val="444A46"/>
                </a:solidFill>
                <a:latin typeface="Inter"/>
              </a:rPr>
              <a:t>— the same numbers that make our Stellar Community Fund case.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6D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309360"/>
            <a:ext cx="12191695" cy="548640"/>
          </a:xfrm>
          <a:prstGeom prst="rect">
            <a:avLst/>
          </a:prstGeom>
          <a:solidFill>
            <a:srgbClr val="0054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22960" y="777240"/>
            <a:ext cx="457200" cy="100584"/>
          </a:xfrm>
          <a:prstGeom prst="rect">
            <a:avLst/>
          </a:prstGeom>
          <a:solidFill>
            <a:srgbClr val="35D0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960120"/>
            <a:ext cx="10058400" cy="731520"/>
          </a:xfrm>
          <a:prstGeom prst="rect">
            <a:avLst/>
          </a:prstGeom>
          <a:noFill/>
        </p:spPr>
        <p:txBody>
          <a:bodyPr wrap="square" anchor="t" lIns="0" rIns="0" tIns="0" bIns="0">
            <a:spAutoFit/>
          </a:bodyPr>
          <a:lstStyle/>
          <a:p>
            <a:pPr algn="l">
              <a:lnSpc>
                <a:spcPct val="105000"/>
              </a:lnSpc>
              <a:spcBef>
                <a:spcPts val="0"/>
              </a:spcBef>
              <a:spcAft>
                <a:spcPts val="0"/>
              </a:spcAft>
            </a:pPr>
            <a:r>
              <a:rPr sz="3400" b="1" i="0">
                <a:solidFill>
                  <a:srgbClr val="FFFFFF"/>
                </a:solidFill>
                <a:latin typeface="Manrope"/>
              </a:rPr>
              <a:t>The ask</a:t>
            </a:r>
          </a:p>
        </p:txBody>
      </p:sp>
      <p:sp>
        <p:nvSpPr>
          <p:cNvPr id="6" name="Rounded Rectangle 5"/>
          <p:cNvSpPr/>
          <p:nvPr/>
        </p:nvSpPr>
        <p:spPr>
          <a:xfrm>
            <a:off x="822960" y="1920240"/>
            <a:ext cx="10515600" cy="1143000"/>
          </a:xfrm>
          <a:prstGeom prst="roundRect">
            <a:avLst>
              <a:gd name="adj" fmla="val 6000"/>
            </a:avLst>
          </a:prstGeom>
          <a:solidFill>
            <a:srgbClr val="0A5A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43000" y="2103120"/>
            <a:ext cx="2743200" cy="822960"/>
          </a:xfrm>
          <a:prstGeom prst="rect">
            <a:avLst/>
          </a:prstGeom>
          <a:noFill/>
        </p:spPr>
        <p:txBody>
          <a:bodyPr wrap="square" anchor="ctr" lIns="0" rIns="0" tIns="0" bIns="0">
            <a:spAutoFit/>
          </a:bodyPr>
          <a:lstStyle/>
          <a:p>
            <a:pPr algn="l">
              <a:lnSpc>
                <a:spcPct val="105000"/>
              </a:lnSpc>
              <a:spcBef>
                <a:spcPts val="0"/>
              </a:spcBef>
              <a:spcAft>
                <a:spcPts val="0"/>
              </a:spcAft>
            </a:pPr>
            <a:r>
              <a:rPr sz="1700" b="1" i="0">
                <a:solidFill>
                  <a:srgbClr val="35D07F"/>
                </a:solidFill>
                <a:latin typeface="Manrope"/>
              </a:rPr>
              <a:t>Capital</a:t>
            </a:r>
          </a:p>
        </p:txBody>
      </p:sp>
      <p:sp>
        <p:nvSpPr>
          <p:cNvPr id="8" name="TextBox 7"/>
          <p:cNvSpPr txBox="1"/>
          <p:nvPr/>
        </p:nvSpPr>
        <p:spPr>
          <a:xfrm>
            <a:off x="3931920" y="2084832"/>
            <a:ext cx="7223760" cy="868680"/>
          </a:xfrm>
          <a:prstGeom prst="rect">
            <a:avLst/>
          </a:prstGeom>
          <a:noFill/>
        </p:spPr>
        <p:txBody>
          <a:bodyPr wrap="square" anchor="ctr" lIns="0" rIns="0" tIns="0" bIns="0">
            <a:spAutoFit/>
          </a:bodyPr>
          <a:lstStyle/>
          <a:p>
            <a:pPr algn="l">
              <a:lnSpc>
                <a:spcPct val="110000"/>
              </a:lnSpc>
              <a:spcBef>
                <a:spcPts val="0"/>
              </a:spcBef>
              <a:spcAft>
                <a:spcPts val="0"/>
              </a:spcAft>
            </a:pPr>
            <a:r>
              <a:rPr sz="1280" b="0" i="0">
                <a:solidFill>
                  <a:srgbClr val="E6F6EC"/>
                </a:solidFill>
                <a:latin typeface="Inter"/>
              </a:rPr>
              <a:t>Fund the Philippines pilot → APAC expansion: labeler acquisition, design-partner labs, and the SEP-24 / SDP / sponsored-trustline integrations.</a:t>
            </a:r>
          </a:p>
        </p:txBody>
      </p:sp>
      <p:sp>
        <p:nvSpPr>
          <p:cNvPr id="9" name="Rounded Rectangle 8"/>
          <p:cNvSpPr/>
          <p:nvPr/>
        </p:nvSpPr>
        <p:spPr>
          <a:xfrm>
            <a:off x="822960" y="3200400"/>
            <a:ext cx="10515600" cy="1143000"/>
          </a:xfrm>
          <a:prstGeom prst="roundRect">
            <a:avLst>
              <a:gd name="adj" fmla="val 6000"/>
            </a:avLst>
          </a:prstGeom>
          <a:solidFill>
            <a:srgbClr val="0A5A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43000" y="3383280"/>
            <a:ext cx="2743200" cy="822960"/>
          </a:xfrm>
          <a:prstGeom prst="rect">
            <a:avLst/>
          </a:prstGeom>
          <a:noFill/>
        </p:spPr>
        <p:txBody>
          <a:bodyPr wrap="square" anchor="ctr" lIns="0" rIns="0" tIns="0" bIns="0">
            <a:spAutoFit/>
          </a:bodyPr>
          <a:lstStyle/>
          <a:p>
            <a:pPr algn="l">
              <a:lnSpc>
                <a:spcPct val="105000"/>
              </a:lnSpc>
              <a:spcBef>
                <a:spcPts val="0"/>
              </a:spcBef>
              <a:spcAft>
                <a:spcPts val="0"/>
              </a:spcAft>
            </a:pPr>
            <a:r>
              <a:rPr sz="1700" b="1" i="0">
                <a:solidFill>
                  <a:srgbClr val="35D07F"/>
                </a:solidFill>
                <a:latin typeface="Manrope"/>
              </a:rPr>
              <a:t>Stellar partnership</a:t>
            </a:r>
          </a:p>
        </p:txBody>
      </p:sp>
      <p:sp>
        <p:nvSpPr>
          <p:cNvPr id="11" name="TextBox 10"/>
          <p:cNvSpPr txBox="1"/>
          <p:nvPr/>
        </p:nvSpPr>
        <p:spPr>
          <a:xfrm>
            <a:off x="3931920" y="3364992"/>
            <a:ext cx="7223760" cy="868680"/>
          </a:xfrm>
          <a:prstGeom prst="rect">
            <a:avLst/>
          </a:prstGeom>
          <a:noFill/>
        </p:spPr>
        <p:txBody>
          <a:bodyPr wrap="square" anchor="ctr" lIns="0" rIns="0" tIns="0" bIns="0">
            <a:spAutoFit/>
          </a:bodyPr>
          <a:lstStyle/>
          <a:p>
            <a:pPr algn="l">
              <a:lnSpc>
                <a:spcPct val="110000"/>
              </a:lnSpc>
              <a:spcBef>
                <a:spcPts val="0"/>
              </a:spcBef>
              <a:spcAft>
                <a:spcPts val="0"/>
              </a:spcAft>
            </a:pPr>
            <a:r>
              <a:rPr sz="1280" b="0" i="0">
                <a:solidFill>
                  <a:srgbClr val="E6F6EC"/>
                </a:solidFill>
                <a:latin typeface="Inter"/>
              </a:rPr>
              <a:t>SCF Build/Integration award + anchor introductions (Coins.ph, MoneyGram, Yellow Card) and technical support on sponsored reserves &amp; SDP.</a:t>
            </a:r>
          </a:p>
        </p:txBody>
      </p:sp>
      <p:sp>
        <p:nvSpPr>
          <p:cNvPr id="12" name="Rounded Rectangle 11"/>
          <p:cNvSpPr/>
          <p:nvPr/>
        </p:nvSpPr>
        <p:spPr>
          <a:xfrm>
            <a:off x="822960" y="4480560"/>
            <a:ext cx="10515600" cy="1143000"/>
          </a:xfrm>
          <a:prstGeom prst="roundRect">
            <a:avLst>
              <a:gd name="adj" fmla="val 6000"/>
            </a:avLst>
          </a:prstGeom>
          <a:solidFill>
            <a:srgbClr val="0A5A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43000" y="4663440"/>
            <a:ext cx="2743200" cy="822960"/>
          </a:xfrm>
          <a:prstGeom prst="rect">
            <a:avLst/>
          </a:prstGeom>
          <a:noFill/>
        </p:spPr>
        <p:txBody>
          <a:bodyPr wrap="square" anchor="ctr" lIns="0" rIns="0" tIns="0" bIns="0">
            <a:spAutoFit/>
          </a:bodyPr>
          <a:lstStyle/>
          <a:p>
            <a:pPr algn="l">
              <a:lnSpc>
                <a:spcPct val="105000"/>
              </a:lnSpc>
              <a:spcBef>
                <a:spcPts val="0"/>
              </a:spcBef>
              <a:spcAft>
                <a:spcPts val="0"/>
              </a:spcAft>
            </a:pPr>
            <a:r>
              <a:rPr sz="1700" b="1" i="0">
                <a:solidFill>
                  <a:srgbClr val="35D07F"/>
                </a:solidFill>
                <a:latin typeface="Manrope"/>
              </a:rPr>
              <a:t>Design-partner AI labs</a:t>
            </a:r>
          </a:p>
        </p:txBody>
      </p:sp>
      <p:sp>
        <p:nvSpPr>
          <p:cNvPr id="14" name="TextBox 13"/>
          <p:cNvSpPr txBox="1"/>
          <p:nvPr/>
        </p:nvSpPr>
        <p:spPr>
          <a:xfrm>
            <a:off x="3931920" y="4645152"/>
            <a:ext cx="7223760" cy="868680"/>
          </a:xfrm>
          <a:prstGeom prst="rect">
            <a:avLst/>
          </a:prstGeom>
          <a:noFill/>
        </p:spPr>
        <p:txBody>
          <a:bodyPr wrap="square" anchor="ctr" lIns="0" rIns="0" tIns="0" bIns="0">
            <a:spAutoFit/>
          </a:bodyPr>
          <a:lstStyle/>
          <a:p>
            <a:pPr algn="l">
              <a:lnSpc>
                <a:spcPct val="110000"/>
              </a:lnSpc>
              <a:spcBef>
                <a:spcPts val="0"/>
              </a:spcBef>
              <a:spcAft>
                <a:spcPts val="0"/>
              </a:spcAft>
            </a:pPr>
            <a:r>
              <a:rPr sz="1280" b="0" i="0">
                <a:solidFill>
                  <a:srgbClr val="E6F6EC"/>
                </a:solidFill>
                <a:latin typeface="Inter"/>
              </a:rPr>
              <a:t>Early customers for preference &amp; multilingual data who value neutral, transparent, ethically-sourced human feedback.</a:t>
            </a:r>
          </a:p>
        </p:txBody>
      </p:sp>
      <p:sp>
        <p:nvSpPr>
          <p:cNvPr id="15" name="TextBox 14"/>
          <p:cNvSpPr txBox="1"/>
          <p:nvPr/>
        </p:nvSpPr>
        <p:spPr>
          <a:xfrm>
            <a:off x="822960" y="6382512"/>
            <a:ext cx="10515600" cy="365760"/>
          </a:xfrm>
          <a:prstGeom prst="rect">
            <a:avLst/>
          </a:prstGeom>
          <a:noFill/>
        </p:spPr>
        <p:txBody>
          <a:bodyPr wrap="square" anchor="t" lIns="0" rIns="0" tIns="0" bIns="0">
            <a:spAutoFit/>
          </a:bodyPr>
          <a:lstStyle/>
          <a:p>
            <a:pPr algn="l">
              <a:lnSpc>
                <a:spcPct val="105000"/>
              </a:lnSpc>
              <a:spcBef>
                <a:spcPts val="0"/>
              </a:spcBef>
              <a:spcAft>
                <a:spcPts val="0"/>
              </a:spcAft>
            </a:pPr>
            <a:r>
              <a:rPr sz="1300" b="1" i="1">
                <a:solidFill>
                  <a:srgbClr val="FFFFFF"/>
                </a:solidFill>
                <a:latin typeface="Manrope"/>
              </a:rPr>
              <a:t>Train AI, cent by cent.  </a:t>
            </a:r>
            <a:r>
              <a:rPr sz="1200" b="0" i="0">
                <a:solidFill>
                  <a:srgbClr val="BFE6CF"/>
                </a:solidFill>
                <a:latin typeface="Inter"/>
              </a:rPr>
              <a:t>centient.work  ·  built on Stellar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66928"/>
            <a:ext cx="384048" cy="82296"/>
          </a:xfrm>
          <a:prstGeom prst="rect">
            <a:avLst/>
          </a:prstGeom>
          <a:solidFill>
            <a:srgbClr val="444A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457200"/>
            <a:ext cx="8229600" cy="320040"/>
          </a:xfrm>
          <a:prstGeom prst="rect">
            <a:avLst/>
          </a:prstGeom>
          <a:noFill/>
        </p:spPr>
        <p:txBody>
          <a:bodyPr wrap="square" anchor="t" lIns="0" rIns="0" tIns="0" bIns="0">
            <a:spAutoFit/>
          </a:bodyPr>
          <a:lstStyle/>
          <a:p>
            <a:pPr algn="l">
              <a:lnSpc>
                <a:spcPct val="105000"/>
              </a:lnSpc>
              <a:spcBef>
                <a:spcPts val="0"/>
              </a:spcBef>
              <a:spcAft>
                <a:spcPts val="0"/>
              </a:spcAft>
            </a:pPr>
            <a:r>
              <a:rPr sz="1300" b="1" i="0">
                <a:solidFill>
                  <a:srgbClr val="444A46"/>
                </a:solidFill>
                <a:latin typeface="Inter"/>
              </a:rPr>
              <a:t>APPENDIX</a:t>
            </a:r>
          </a:p>
        </p:txBody>
      </p:sp>
      <p:sp>
        <p:nvSpPr>
          <p:cNvPr id="5" name="TextBox 4"/>
          <p:cNvSpPr txBox="1"/>
          <p:nvPr/>
        </p:nvSpPr>
        <p:spPr>
          <a:xfrm>
            <a:off x="640080" y="6455664"/>
            <a:ext cx="3657600" cy="274320"/>
          </a:xfrm>
          <a:prstGeom prst="rect">
            <a:avLst/>
          </a:prstGeom>
          <a:noFill/>
        </p:spPr>
        <p:txBody>
          <a:bodyPr wrap="square" anchor="t" lIns="0" rIns="0" tIns="0" bIns="0">
            <a:spAutoFit/>
          </a:bodyPr>
          <a:lstStyle/>
          <a:p>
            <a:pPr algn="l">
              <a:lnSpc>
                <a:spcPct val="105000"/>
              </a:lnSpc>
              <a:spcBef>
                <a:spcPts val="0"/>
              </a:spcBef>
              <a:spcAft>
                <a:spcPts val="0"/>
              </a:spcAft>
            </a:pPr>
            <a:r>
              <a:rPr sz="900" b="1" i="0">
                <a:solidFill>
                  <a:srgbClr val="006D3D"/>
                </a:solidFill>
                <a:latin typeface="Manrope"/>
              </a:rPr>
              <a:t>Centient</a:t>
            </a:r>
            <a:r>
              <a:rPr sz="900" b="0" i="0">
                <a:solidFill>
                  <a:srgbClr val="444A46"/>
                </a:solidFill>
                <a:latin typeface="Inter"/>
              </a:rPr>
              <a:t>  ·  Train AI, cent by cent.</a:t>
            </a:r>
          </a:p>
        </p:txBody>
      </p:sp>
      <p:sp>
        <p:nvSpPr>
          <p:cNvPr id="6" name="TextBox 5"/>
          <p:cNvSpPr txBox="1"/>
          <p:nvPr/>
        </p:nvSpPr>
        <p:spPr>
          <a:xfrm>
            <a:off x="10424160" y="6455664"/>
            <a:ext cx="1097280" cy="274320"/>
          </a:xfrm>
          <a:prstGeom prst="rect">
            <a:avLst/>
          </a:prstGeom>
          <a:noFill/>
        </p:spPr>
        <p:txBody>
          <a:bodyPr wrap="square" anchor="t" lIns="0" rIns="0" tIns="0" bIns="0">
            <a:spAutoFit/>
          </a:bodyPr>
          <a:lstStyle/>
          <a:p>
            <a:pPr algn="r">
              <a:lnSpc>
                <a:spcPct val="105000"/>
              </a:lnSpc>
              <a:spcBef>
                <a:spcPts val="0"/>
              </a:spcBef>
              <a:spcAft>
                <a:spcPts val="0"/>
              </a:spcAft>
            </a:pPr>
            <a:r>
              <a:rPr sz="900" b="1" i="0">
                <a:solidFill>
                  <a:srgbClr val="444A46"/>
                </a:solidFill>
                <a:latin typeface="Inter"/>
              </a:rPr>
              <a:t>14</a:t>
            </a:r>
          </a:p>
        </p:txBody>
      </p:sp>
      <p:sp>
        <p:nvSpPr>
          <p:cNvPr id="7" name="TextBox 6"/>
          <p:cNvSpPr txBox="1"/>
          <p:nvPr/>
        </p:nvSpPr>
        <p:spPr>
          <a:xfrm>
            <a:off x="640080" y="841248"/>
            <a:ext cx="10881360" cy="914400"/>
          </a:xfrm>
          <a:prstGeom prst="rect">
            <a:avLst/>
          </a:prstGeom>
          <a:noFill/>
        </p:spPr>
        <p:txBody>
          <a:bodyPr wrap="square" anchor="t" lIns="0" rIns="0" tIns="0" bIns="0">
            <a:spAutoFit/>
          </a:bodyPr>
          <a:lstStyle/>
          <a:p>
            <a:pPr algn="l">
              <a:lnSpc>
                <a:spcPct val="100000"/>
              </a:lnSpc>
              <a:spcBef>
                <a:spcPts val="0"/>
              </a:spcBef>
              <a:spcAft>
                <a:spcPts val="0"/>
              </a:spcAft>
            </a:pPr>
            <a:r>
              <a:rPr sz="2400" b="1" i="0">
                <a:solidFill>
                  <a:srgbClr val="1A1C19"/>
                </a:solidFill>
                <a:latin typeface="Manrope"/>
              </a:rPr>
              <a:t>Sources &amp; further reading</a:t>
            </a:r>
          </a:p>
        </p:txBody>
      </p:sp>
      <p:sp>
        <p:nvSpPr>
          <p:cNvPr id="8" name="TextBox 7"/>
          <p:cNvSpPr txBox="1"/>
          <p:nvPr/>
        </p:nvSpPr>
        <p:spPr>
          <a:xfrm>
            <a:off x="640080" y="1554480"/>
            <a:ext cx="10881360" cy="4572000"/>
          </a:xfrm>
          <a:prstGeom prst="rect">
            <a:avLst/>
          </a:prstGeom>
          <a:noFill/>
        </p:spPr>
        <p:txBody>
          <a:bodyPr wrap="square" lIns="0" tIns="0" rIns="0">
            <a:spAutoFit/>
          </a:bodyPr>
          <a:lstStyle/>
          <a:p>
            <a:pPr>
              <a:lnSpc>
                <a:spcPct val="108000"/>
              </a:lnSpc>
              <a:spcBef>
                <a:spcPts val="0"/>
              </a:spcBef>
              <a:spcAft>
                <a:spcPts val="1000"/>
              </a:spcAft>
            </a:pPr>
            <a:r>
              <a:rPr sz="1300" b="1" i="0">
                <a:solidFill>
                  <a:srgbClr val="006D3D"/>
                </a:solidFill>
                <a:latin typeface="Inter"/>
              </a:rPr>
              <a:t>—  </a:t>
            </a:r>
            <a:r>
              <a:rPr sz="1300" b="1" i="0">
                <a:solidFill>
                  <a:srgbClr val="1A1C19"/>
                </a:solidFill>
                <a:latin typeface="Inter"/>
              </a:rPr>
              <a:t>Ecosystem &amp; GTM research</a:t>
            </a:r>
            <a:r>
              <a:rPr sz="1300" b="0" i="0">
                <a:solidFill>
                  <a:srgbClr val="444A46"/>
                </a:solidFill>
                <a:latin typeface="Inter"/>
              </a:rPr>
              <a:t> — GitHub issue #334 (Stellar integrations + business features, fully referenced)</a:t>
            </a:r>
          </a:p>
          <a:p>
            <a:pPr>
              <a:lnSpc>
                <a:spcPct val="108000"/>
              </a:lnSpc>
              <a:spcBef>
                <a:spcPts val="0"/>
              </a:spcBef>
              <a:spcAft>
                <a:spcPts val="1000"/>
              </a:spcAft>
            </a:pPr>
            <a:r>
              <a:rPr sz="1300" b="1" i="0">
                <a:solidFill>
                  <a:srgbClr val="006D3D"/>
                </a:solidFill>
                <a:latin typeface="Inter"/>
              </a:rPr>
              <a:t>—  </a:t>
            </a:r>
            <a:r>
              <a:rPr sz="1300" b="1" i="0">
                <a:solidFill>
                  <a:srgbClr val="1A1C19"/>
                </a:solidFill>
                <a:latin typeface="Inter"/>
              </a:rPr>
              <a:t>Architecture &amp; product</a:t>
            </a:r>
            <a:r>
              <a:rPr sz="1300" b="0" i="0">
                <a:solidFill>
                  <a:srgbClr val="444A46"/>
                </a:solidFill>
                <a:latin typeface="Inter"/>
              </a:rPr>
              <a:t> — repo README (system + sequence diagrams), docs/whitepaper.md, docs/features.md, spec.md</a:t>
            </a:r>
          </a:p>
          <a:p>
            <a:pPr>
              <a:lnSpc>
                <a:spcPct val="108000"/>
              </a:lnSpc>
              <a:spcBef>
                <a:spcPts val="0"/>
              </a:spcBef>
              <a:spcAft>
                <a:spcPts val="1000"/>
              </a:spcAft>
            </a:pPr>
            <a:r>
              <a:rPr sz="1300" b="1" i="0">
                <a:solidFill>
                  <a:srgbClr val="006D3D"/>
                </a:solidFill>
                <a:latin typeface="Inter"/>
              </a:rPr>
              <a:t>—  </a:t>
            </a:r>
            <a:r>
              <a:rPr sz="1300" b="1" i="0">
                <a:solidFill>
                  <a:srgbClr val="1A1C19"/>
                </a:solidFill>
                <a:latin typeface="Inter"/>
              </a:rPr>
              <a:t>Pitch structure</a:t>
            </a:r>
            <a:r>
              <a:rPr sz="1300" b="0" i="0">
                <a:solidFill>
                  <a:srgbClr val="444A46"/>
                </a:solidFill>
                <a:latin typeface="Inter"/>
              </a:rPr>
              <a:t> — GitHub issue #152 (canonical architecture + deck outline)</a:t>
            </a:r>
          </a:p>
          <a:p>
            <a:pPr>
              <a:lnSpc>
                <a:spcPct val="108000"/>
              </a:lnSpc>
              <a:spcBef>
                <a:spcPts val="0"/>
              </a:spcBef>
              <a:spcAft>
                <a:spcPts val="1000"/>
              </a:spcAft>
            </a:pPr>
            <a:r>
              <a:rPr sz="1300" b="1" i="0">
                <a:solidFill>
                  <a:srgbClr val="006D3D"/>
                </a:solidFill>
                <a:latin typeface="Inter"/>
              </a:rPr>
              <a:t>—  </a:t>
            </a:r>
            <a:r>
              <a:rPr sz="1300" b="1" i="0">
                <a:solidFill>
                  <a:srgbClr val="1A1C19"/>
                </a:solidFill>
                <a:latin typeface="Inter"/>
              </a:rPr>
              <a:t>Stellar primitives</a:t>
            </a:r>
            <a:r>
              <a:rPr sz="1300" b="0" i="0">
                <a:solidFill>
                  <a:srgbClr val="444A46"/>
                </a:solidFill>
                <a:latin typeface="Inter"/>
              </a:rPr>
              <a:t> — SEP repo (SEP-1/10/24/38/53), CAP-33 sponsored reserves, CAP-15 fee-bump, Stellar Disbursement Platform</a:t>
            </a:r>
          </a:p>
          <a:p>
            <a:pPr>
              <a:lnSpc>
                <a:spcPct val="108000"/>
              </a:lnSpc>
              <a:spcBef>
                <a:spcPts val="0"/>
              </a:spcBef>
              <a:spcAft>
                <a:spcPts val="1000"/>
              </a:spcAft>
            </a:pPr>
            <a:r>
              <a:rPr sz="1300" b="1" i="0">
                <a:solidFill>
                  <a:srgbClr val="006D3D"/>
                </a:solidFill>
                <a:latin typeface="Inter"/>
              </a:rPr>
              <a:t>—  </a:t>
            </a:r>
            <a:r>
              <a:rPr sz="1300" b="1" i="0">
                <a:solidFill>
                  <a:srgbClr val="1A1C19"/>
                </a:solidFill>
                <a:latin typeface="Inter"/>
              </a:rPr>
              <a:t>Cash-out anchors</a:t>
            </a:r>
            <a:r>
              <a:rPr sz="1300" b="0" i="0">
                <a:solidFill>
                  <a:srgbClr val="444A46"/>
                </a:solidFill>
                <a:latin typeface="Inter"/>
              </a:rPr>
              <a:t> — MoneyGram Ramps, Coins.ph (PH), Yellow Card &amp; ClickPesa (Africa), Vibrant (LatAm)</a:t>
            </a:r>
          </a:p>
          <a:p>
            <a:pPr>
              <a:lnSpc>
                <a:spcPct val="108000"/>
              </a:lnSpc>
              <a:spcBef>
                <a:spcPts val="0"/>
              </a:spcBef>
              <a:spcAft>
                <a:spcPts val="1000"/>
              </a:spcAft>
            </a:pPr>
            <a:r>
              <a:rPr sz="1300" b="1" i="0">
                <a:solidFill>
                  <a:srgbClr val="006D3D"/>
                </a:solidFill>
                <a:latin typeface="Inter"/>
              </a:rPr>
              <a:t>—  </a:t>
            </a:r>
            <a:r>
              <a:rPr sz="1300" b="1" i="0">
                <a:solidFill>
                  <a:srgbClr val="1A1C19"/>
                </a:solidFill>
                <a:latin typeface="Inter"/>
              </a:rPr>
              <a:t>Market</a:t>
            </a:r>
            <a:r>
              <a:rPr sz="1300" b="0" i="0">
                <a:solidFill>
                  <a:srgbClr val="444A46"/>
                </a:solidFill>
                <a:latin typeface="Inter"/>
              </a:rPr>
              <a:t> — Scale/Meta, Surge, Mercor, Prolific, Appen; RLHF preference-data economics</a:t>
            </a:r>
          </a:p>
        </p:txBody>
      </p:sp>
      <p:sp>
        <p:nvSpPr>
          <p:cNvPr id="9" name="TextBox 8"/>
          <p:cNvSpPr txBox="1"/>
          <p:nvPr/>
        </p:nvSpPr>
        <p:spPr>
          <a:xfrm>
            <a:off x="640080" y="5577840"/>
            <a:ext cx="10881360" cy="731520"/>
          </a:xfrm>
          <a:prstGeom prst="rect">
            <a:avLst/>
          </a:prstGeom>
          <a:noFill/>
        </p:spPr>
        <p:txBody>
          <a:bodyPr wrap="square" anchor="t" lIns="0" rIns="0" tIns="0" bIns="0">
            <a:spAutoFit/>
          </a:bodyPr>
          <a:lstStyle/>
          <a:p>
            <a:pPr algn="l">
              <a:lnSpc>
                <a:spcPct val="112000"/>
              </a:lnSpc>
              <a:spcBef>
                <a:spcPts val="0"/>
              </a:spcBef>
              <a:spcAft>
                <a:spcPts val="0"/>
              </a:spcAft>
            </a:pPr>
            <a:r>
              <a:rPr sz="1100" b="1" i="0">
                <a:solidFill>
                  <a:srgbClr val="785A00"/>
                </a:solidFill>
                <a:latin typeface="Inter"/>
              </a:rPr>
              <a:t>Note: </a:t>
            </a:r>
            <a:r>
              <a:rPr sz="1100" b="0" i="0">
                <a:solidFill>
                  <a:srgbClr val="444A46"/>
                </a:solidFill>
                <a:latin typeface="Inter"/>
              </a:rPr>
              <a:t>point-in-time figures (market size, anchor coverage, tool versions) are indicative — see issue #334's verification caveats before external use. Prior deck versions live in the team Drive; this v3 follows the same brand and pitch structure.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